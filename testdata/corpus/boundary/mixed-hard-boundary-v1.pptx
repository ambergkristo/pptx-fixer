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Sz cx="9144000" cy="6858000"/>
  <p:sldIdLst>
    <p:sldId id="256" r:id="rId1"/>
    <p:sldId id="257" r:id="rId2"/>
    <p:sldId id="258" r:id="rId3"/>
    <p:sldId id="259" r:id="rId4"/>
    <p:sldId id="260" r:id="rId5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Mixed Hard Boundary: Centered Hero</a:t>
            </a:r>
          </a:p>
        </p:txBody>
      </p:sp>
      <p:sp>
        <p:nvSpPr>
          <p:cNvPr id="3" name="Body 3"/>
          <p:cNvSpPr/>
          <p:nvPr/>
        </p:nvSpPr>
        <p:spPr>
          <a:xfrm>
            <a:off x="1371600" y="1463040"/>
            <a:ext cx="6400800" cy="2743200"/>
          </a:xfrm>
          <a:prstGeom prst="rect">
            <a:avLst/>
          </a:prstGeom>
        </p:spPr>
        <p:txBody>
          <a:bodyPr wrap="square"/>
          <a:lstStyle/>
          <a:p>
            <a:pPr algn="ctr">
              <a:spcAft>
                <a:spcPts val="1800"/>
              </a:spcAft>
              <a:buNone/>
            </a:pPr>
            <a:r>
              <a:rPr sz="3000">
                <a:latin typeface="Aptos"/>
              </a:rPr>
              <a:t>Centered hero composition must stay centered.</a:t>
            </a:r>
          </a:p>
          <a:p>
            <a:pPr algn="ctr">
              <a:spcAft>
                <a:spcPts val="1800"/>
              </a:spcAft>
              <a:buNone/>
            </a:pPr>
            <a:r>
              <a:rPr sz="2000">
                <a:latin typeface="Aptos"/>
              </a:rPr>
              <a:t>The subtitle remains centered to prove the engine does not flatten intentional hero layouts.</a:t>
            </a:r>
          </a:p>
          <a:p>
            <a:pPr algn="ctr">
              <a:buNone/>
            </a:pPr>
            <a:r>
              <a:rPr sz="2000">
                <a:latin typeface="Aptos"/>
              </a:rPr>
              <a:t>This slide is boundary-only and should stay untouched.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Mixed Hard Boundary: Right-Aligned KPI</a:t>
            </a:r>
          </a:p>
        </p:txBody>
      </p:sp>
      <p:sp>
        <p:nvSpPr>
          <p:cNvPr id="3" name="Body 3"/>
          <p:cNvSpPr/>
          <p:nvPr/>
        </p:nvSpPr>
        <p:spPr>
          <a:xfrm>
            <a:off x="4800600" y="1752600"/>
            <a:ext cx="3429000" cy="2743200"/>
          </a:xfrm>
          <a:prstGeom prst="rect">
            <a:avLst/>
          </a:prstGeom>
        </p:spPr>
        <p:txBody>
          <a:bodyPr wrap="square"/>
          <a:lstStyle/>
          <a:p>
            <a:pPr algn="r">
              <a:spcAft>
                <a:spcPts val="1800"/>
              </a:spcAft>
              <a:buNone/>
            </a:pPr>
            <a:r>
              <a:rPr sz="2800">
                <a:latin typeface="Aptos"/>
              </a:rPr>
              <a:t>Right-aligned KPI must stay right.</a:t>
            </a:r>
          </a:p>
          <a:p>
            <a:pPr algn="r">
              <a:spcAft>
                <a:spcPts val="1800"/>
              </a:spcAft>
              <a:buNone/>
            </a:pPr>
            <a:r>
              <a:rPr sz="2000">
                <a:latin typeface="Aptos"/>
              </a:rPr>
              <a:t>Right-aligned attribution must stay right.</a:t>
            </a:r>
          </a:p>
          <a:p>
            <a:pPr algn="r">
              <a:buNone/>
            </a:pPr>
            <a:r>
              <a:rPr sz="2000">
                <a:latin typeface="Aptos"/>
              </a:rPr>
              <a:t>The visual role is intentional and must not be forced left.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Mixed Hard Boundary: Distinct Typography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95400"/>
            <a:ext cx="7772400" cy="3657600"/>
          </a:xfrm>
          <a:prstGeom prst="rect">
            <a:avLst/>
          </a:prstGeom>
        </p:spPr>
        <p:txBody>
          <a:bodyPr wrap="square"/>
          <a:lstStyle/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Baseline Aptos paragraph frames the distinct callout.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Georgia"/>
              </a:rPr>
              <a:t>Boundary Georgia role must stay distinct.</a:t>
            </a:r>
          </a:p>
          <a:p>
            <a:pPr>
              <a:spcAft>
                <a:spcPts val="1800"/>
              </a:spcAft>
              <a:buNone/>
            </a:pPr>
            <a:r>
              <a:rPr sz="2000">
                <a:latin typeface="Aptos"/>
              </a:rPr>
              <a:t>The surrounding Aptos body text should remain separate from the Georgia emphasis role.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Mixed Hard Boundary: Intentional Role Mix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676400"/>
            <a:ext cx="2743200" cy="3429000"/>
          </a:xfrm>
          <a:prstGeom prst="rect">
            <a:avLst/>
          </a:prstGeom>
        </p:spPr>
        <p:txBody>
          <a:bodyPr wrap="square"/>
          <a:lstStyle/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Left body copy anchors the composition and should remain left aligned.</a:t>
            </a:r>
          </a:p>
          <a:p>
            <a:pPr algn="l">
              <a:spcAft>
                <a:spcPts val="1200"/>
              </a:spcAft>
              <a:buNone/>
            </a:pPr>
            <a:r>
              <a:rPr sz="2000">
                <a:latin typeface="Aptos"/>
              </a:rPr>
              <a:t>A second left body paragraph keeps the baseline stable.</a:t>
            </a:r>
          </a:p>
        </p:txBody>
      </p:sp>
      <p:sp>
        <p:nvSpPr>
          <p:cNvPr id="4" name="Body 4"/>
          <p:cNvSpPr/>
          <p:nvPr/>
        </p:nvSpPr>
        <p:spPr>
          <a:xfrm>
            <a:off x="3200400" y="2057400"/>
            <a:ext cx="2743200" cy="2057400"/>
          </a:xfrm>
          <a:prstGeom prst="rect">
            <a:avLst/>
          </a:prstGeom>
        </p:spPr>
        <p:txBody>
          <a:bodyPr wrap="square"/>
          <a:lstStyle/>
          <a:p>
            <a:pPr algn="ctr">
              <a:spcAft>
                <a:spcPts val="1200"/>
              </a:spcAft>
              <a:buNone/>
            </a:pPr>
            <a:r>
              <a:rPr sz="2400">
                <a:latin typeface="Aptos"/>
              </a:rPr>
              <a:t>Intentional centered quote must stay centered.</a:t>
            </a:r>
          </a:p>
        </p:txBody>
      </p:sp>
      <p:sp>
        <p:nvSpPr>
          <p:cNvPr id="5" name="Body 5"/>
          <p:cNvSpPr/>
          <p:nvPr/>
        </p:nvSpPr>
        <p:spPr>
          <a:xfrm>
            <a:off x="5943600" y="3657600"/>
            <a:ext cx="2057400" cy="1143000"/>
          </a:xfrm>
          <a:prstGeom prst="rect">
            <a:avLst/>
          </a:prstGeom>
        </p:spPr>
        <p:txBody>
          <a:bodyPr wrap="square"/>
          <a:lstStyle/>
          <a:p>
            <a:pPr algn="r">
              <a:buNone/>
            </a:pPr>
            <a:r>
              <a:rPr sz="2000">
                <a:latin typeface="Aptos"/>
              </a:rPr>
              <a:t>Intentional right attribution must stay right.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/>
          <p:nvPr>
            <p:ph type="title"/>
          </p:nvPr>
        </p:nvSpPr>
        <p:spPr>
          <a:xfrm>
            <a:off x="457200" y="27432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800">
                <a:latin typeface="Aptos"/>
              </a:rPr>
              <a:t>Mixed Hard Boundary: QA Matrix</a:t>
            </a:r>
          </a:p>
        </p:txBody>
      </p:sp>
      <p:sp>
        <p:nvSpPr>
          <p:cNvPr id="3" name="Body 3"/>
          <p:cNvSpPr/>
          <p:nvPr/>
        </p:nvSpPr>
        <p:spPr>
          <a:xfrm>
            <a:off x="685800" y="1219200"/>
            <a:ext cx="2743200" cy="4572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000">
                <a:latin typeface="Aptos"/>
              </a:rPr>
              <a:t>Numbered list role must stay numbered.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Numbered item one</a:t>
            </a:r>
          </a:p>
          <a:p>
            <a:pPr lvl="0">
              <a:buAutoNum type="arabicPeriod"/>
            </a:pPr>
            <a:r>
              <a:rPr sz="2000">
                <a:latin typeface="Aptos"/>
              </a:rPr>
              <a:t>Numbered item two</a:t>
            </a:r>
          </a:p>
          <a:p>
            <a:pPr lvl="1">
              <a:buAutoNum type="arabicPeriod"/>
            </a:pPr>
            <a:r>
              <a:rPr sz="2000">
                <a:latin typeface="Aptos"/>
              </a:rPr>
              <a:t>Numbered child one</a:t>
            </a:r>
          </a:p>
          <a:p>
            <a:pPr lvl="1">
              <a:buAutoNum type="arabicPeriod"/>
            </a:pPr>
            <a:r>
              <a:rPr sz="2000">
                <a:latin typeface="Aptos"/>
              </a:rPr>
              <a:t>Numbered child two</a:t>
            </a:r>
          </a:p>
        </p:txBody>
      </p:sp>
      <p:sp>
        <p:nvSpPr>
          <p:cNvPr id="4" name="Body 4"/>
          <p:cNvSpPr/>
          <p:nvPr/>
        </p:nvSpPr>
        <p:spPr>
          <a:xfrm>
            <a:off x="3657600" y="1219200"/>
            <a:ext cx="2743200" cy="4572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000">
                <a:latin typeface="Aptos"/>
              </a:rPr>
              <a:t>Symbol list role must stay symbolic.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Symbol item one</a:t>
            </a:r>
          </a:p>
          <a:p>
            <a:pPr lvl="0">
              <a:buChar char="•"/>
            </a:pPr>
            <a:r>
              <a:rPr sz="2000">
                <a:latin typeface="Aptos"/>
              </a:rPr>
              <a:t>Symbol item two</a:t>
            </a:r>
          </a:p>
          <a:p>
            <a:pPr lvl="1">
              <a:buChar char="•"/>
            </a:pPr>
            <a:r>
              <a:rPr sz="2000">
                <a:latin typeface="Aptos"/>
              </a:rPr>
              <a:t>Symbol child one</a:t>
            </a:r>
          </a:p>
          <a:p>
            <a:pPr lvl="1">
              <a:buChar char="•"/>
            </a:pPr>
            <a:r>
              <a:rPr sz="2000">
                <a:latin typeface="Aptos"/>
              </a:rPr>
              <a:t>Symbol child two</a:t>
            </a:r>
          </a:p>
        </p:txBody>
      </p:sp>
      <p:sp>
        <p:nvSpPr>
          <p:cNvPr id="5" name="Body 5"/>
          <p:cNvSpPr/>
          <p:nvPr/>
        </p:nvSpPr>
        <p:spPr>
          <a:xfrm>
            <a:off x="6400800" y="1219200"/>
            <a:ext cx="2057400" cy="4572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2000">
                <a:latin typeface="Aptos"/>
              </a:rPr>
              <a:t>Inherited spacing boundary paragraph</a:t>
            </a:r>
          </a:p>
          <a:p>
            <a:pPr>
              <a:spcAft>
                <a:spcPts val="2400"/>
              </a:spcAft>
              <a:buNone/>
            </a:pPr>
            <a:r>
              <a:rPr sz="2000">
                <a:latin typeface="Aptos"/>
              </a:rPr>
              <a:t>Explicit 24pt spacing boundary paragraph</a:t>
            </a:r>
          </a:p>
          <a:p>
            <a:pPr>
              <a:spcAft>
                <a:spcPts val="1200"/>
              </a:spcAft>
              <a:buNone/>
            </a:pPr>
            <a:r>
              <a:rPr sz="2000">
                <a:latin typeface="Aptos"/>
              </a:rPr>
              <a:t>Explicit 12pt spacing boundary paragraph</a:t>
            </a:r>
          </a:p>
          <a:p>
            <a:pPr>
              <a:lnSpc>
                <a:spcPct val="120000"/>
              </a:lnSpc>
              <a:buNone/>
            </a:pPr>
            <a:r>
              <a:rPr sz="2000">
                <a:latin typeface="Aptos"/>
              </a:rPr>
              <a:t>Percent line spacing boundary paragraph</a:t>
            </a:r>
          </a:p>
          <a:p>
            <a:pPr>
              <a:lnSpc>
                <a:spcPts val="1400"/>
              </a:lnSpc>
              <a:buNone/>
            </a:pPr>
            <a:r>
              <a:rPr sz="2000">
                <a:latin typeface="Aptos"/>
              </a:rPr>
              <a:t>Point line spacing boundary paragraph</a:t>
            </a:r>
          </a:p>
          <a:p>
            <a:pPr>
              <a:lnSpc>
                <a:spcPct val="120000"/>
              </a:lnSpc>
              <a:buNone/>
            </a:pPr>
            <a:r>
              <a:rPr sz="2000">
                <a:latin typeface="Aptos"/>
              </a:rPr>
              <a:t>Percent line spacing boundary paragraph two</a:t>
            </a:r>
          </a:p>
        </p:txBody>
      </p:sp>
    </p:spTree>
  </p:cSld>
</p:sld>
</file>