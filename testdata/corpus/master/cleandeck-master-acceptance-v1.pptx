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Sz cx="9144000" cy="6858000"/>
  <p:sldIdLst>
    <p:sldId id="256" r:id="rId1"/>
    <p:sldId id="257" r:id="rId2"/>
    <p:sldId id="258" r:id="rId3"/>
    <p:sldId id="259" r:id="rId4"/>
    <p:sldId id="260" r:id="rId5"/>
    <p:sldId id="261" r:id="rId6"/>
  </p:sldIdLst>
</p:presentation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  <Relationship Id="rId4" Type="http://schemas.openxmlformats.org/officeDocument/2006/relationships/slide" Target="slides/slide4.xml"/>
  <Relationship Id="rId5" Type="http://schemas.openxmlformats.org/officeDocument/2006/relationships/slide" Target="slides/slide5.xml"/>
  <Relationship Id="rId6" Type="http://schemas.openxmlformats.org/officeDocument/2006/relationships/slide" Target="slides/slide6.xml"/>
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2"/>
          <p:cNvSpPr/>
          <p:nvPr>
            <p:ph type="title"/>
          </p:nvPr>
        </p:nvSpPr>
        <p:spPr>
          <a:xfrm>
            <a:off x="457200" y="274320"/>
            <a:ext cx="8229600" cy="6858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2800">
                <a:latin typeface="Aptos"/>
              </a:rPr>
              <a:t>Master Acceptance: Clean Reference</a:t>
            </a:r>
          </a:p>
        </p:txBody>
      </p:sp>
      <p:sp>
        <p:nvSpPr>
          <p:cNvPr id="3" name="Body 3"/>
          <p:cNvSpPr/>
          <p:nvPr/>
        </p:nvSpPr>
        <p:spPr>
          <a:xfrm>
            <a:off x="685800" y="1295400"/>
            <a:ext cx="7772400" cy="3657600"/>
          </a:xfrm>
          <a:prstGeom prst="rect">
            <a:avLst/>
          </a:prstGeom>
        </p:spPr>
        <p:txBody>
          <a:bodyPr wrap="square"/>
          <a:lstStyle/>
          <a:p>
            <a:pPr>
              <a:spcAft>
                <a:spcPts val="1800"/>
              </a:spcAft>
              <a:buNone/>
            </a:pPr>
            <a:r>
              <a:rPr sz="2000">
                <a:latin typeface="Aptos"/>
              </a:rPr>
              <a:t>This reference slide should remain unchanged after cleanup.</a:t>
            </a:r>
          </a:p>
          <a:p>
            <a:pPr>
              <a:spcAft>
                <a:spcPts val="1800"/>
              </a:spcAft>
              <a:buNone/>
            </a:pPr>
            <a:r>
              <a:rPr sz="2000">
                <a:latin typeface="Aptos"/>
              </a:rPr>
              <a:t>Aptos body copy is explicit and stable across all paragraphs.</a:t>
            </a:r>
          </a:p>
          <a:p>
            <a:pPr>
              <a:spcAft>
                <a:spcPts val="1800"/>
              </a:spcAft>
              <a:buNone/>
            </a:pPr>
            <a:r>
              <a:rPr sz="2000">
                <a:latin typeface="Aptos"/>
              </a:rPr>
              <a:t>The slide exists to make before and after review easy, not to provoke fixes.</a:t>
            </a:r>
          </a:p>
          <a:p>
            <a:pPr>
              <a:spcAft>
                <a:spcPts val="1800"/>
              </a:spcAft>
              <a:buNone/>
            </a:pPr>
            <a:r>
              <a:rPr sz="2000">
                <a:latin typeface="Aptos"/>
              </a:rPr>
              <a:t>If this slide changes, the validation story should treat that as a regression signal.</a:t>
            </a:r>
          </a:p>
        </p:txBody>
      </p:sp>
      <p:sp>
        <p:nvSpPr>
          <p:cNvPr id="4" name="Body 4"/>
          <p:cNvSpPr/>
          <p:nvPr/>
        </p:nvSpPr>
        <p:spPr>
          <a:xfrm>
            <a:off x="685800" y="5207000"/>
            <a:ext cx="7772400" cy="9144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2000">
                <a:latin typeface="Aptos"/>
              </a:rPr>
              <a:t>QA note: clean reference, no intended fixes, no hidden typography tricks.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2"/>
          <p:cNvSpPr/>
          <p:nvPr>
            <p:ph type="title"/>
          </p:nvPr>
        </p:nvSpPr>
        <p:spPr>
          <a:xfrm>
            <a:off x="457200" y="274320"/>
            <a:ext cx="8229600" cy="6858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2800">
                <a:latin typeface="Aptos"/>
              </a:rPr>
              <a:t>Master Acceptance: Typography Drift</a:t>
            </a:r>
          </a:p>
        </p:txBody>
      </p:sp>
      <p:sp>
        <p:nvSpPr>
          <p:cNvPr id="3" name="Body 3"/>
          <p:cNvSpPr/>
          <p:nvPr/>
        </p:nvSpPr>
        <p:spPr>
          <a:xfrm>
            <a:off x="685800" y="1295400"/>
            <a:ext cx="7772400" cy="4419600"/>
          </a:xfrm>
          <a:prstGeom prst="rect">
            <a:avLst/>
          </a:prstGeom>
        </p:spPr>
        <p:txBody>
          <a:bodyPr wrap="square"/>
          <a:lstStyle/>
          <a:p>
            <a:pPr>
              <a:spcAft>
                <a:spcPts val="1800"/>
              </a:spcAft>
              <a:buNone/>
            </a:pPr>
            <a:r>
              <a:rPr sz="2000">
                <a:latin typeface="Aptos"/>
              </a:rPr>
              <a:t>Baseline body paragraph establishes the Aptos baseline.</a:t>
            </a:r>
          </a:p>
          <a:p>
            <a:pPr>
              <a:spcAft>
                <a:spcPts val="1800"/>
              </a:spcAft>
              <a:buNone/>
            </a:pPr>
            <a:r>
              <a:rPr sz="2000">
                <a:latin typeface="Aptos"/>
              </a:rPr>
              <a:t>One mixed sentence carries an </a:t>
            </a:r>
            <a:r>
              <a:rPr sz="2000">
                <a:latin typeface="Arial"/>
              </a:rPr>
              <a:t>Arial family outlier</a:t>
            </a:r>
            <a:r>
              <a:rPr sz="2000">
                <a:latin typeface="Aptos"/>
              </a:rPr>
              <a:t> and a </a:t>
            </a:r>
            <a:r>
              <a:rPr sz="2400">
                <a:latin typeface="Aptos"/>
              </a:rPr>
              <a:t>24pt size outlier</a:t>
            </a:r>
            <a:r>
              <a:rPr sz="2000">
                <a:latin typeface="Aptos"/>
              </a:rPr>
              <a:t> that should normalize safely.</a:t>
            </a:r>
          </a:p>
          <a:p>
            <a:pPr>
              <a:spcAft>
                <a:spcPts val="1800"/>
              </a:spcAft>
              <a:buNone/>
            </a:pPr>
            <a:r>
              <a:rPr sz="2000">
                <a:latin typeface="Georgia"/>
              </a:rPr>
              <a:t>Intentional Georgia callout must stay distinct.</a:t>
            </a:r>
          </a:p>
          <a:p>
            <a:pPr>
              <a:spcAft>
                <a:spcPts val="1800"/>
              </a:spcAft>
              <a:buNone/>
            </a:pPr>
            <a:r>
              <a:rPr sz="2400">
                <a:latin typeface="Aptos"/>
              </a:rPr>
              <a:t>Intentional 24pt callout must stay larger.</a:t>
            </a:r>
          </a:p>
          <a:p>
            <a:pPr>
              <a:spcAft>
                <a:spcPts val="1800"/>
              </a:spcAft>
              <a:buNone/>
            </a:pPr>
            <a:r>
              <a:rPr sz="2000">
                <a:latin typeface="Aptos"/>
              </a:rPr>
              <a:t>Body paragraph returns to the Aptos baseline after the callouts.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2"/>
          <p:cNvSpPr/>
          <p:nvPr>
            <p:ph type="title"/>
          </p:nvPr>
        </p:nvSpPr>
        <p:spPr>
          <a:xfrm>
            <a:off x="457200" y="274320"/>
            <a:ext cx="8229600" cy="6858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2800">
                <a:latin typeface="Aptos"/>
              </a:rPr>
              <a:t>Master Acceptance: Alignment Drift</a:t>
            </a:r>
          </a:p>
        </p:txBody>
      </p:sp>
      <p:sp>
        <p:nvSpPr>
          <p:cNvPr id="3" name="Body 3"/>
          <p:cNvSpPr/>
          <p:nvPr/>
        </p:nvSpPr>
        <p:spPr>
          <a:xfrm>
            <a:off x="685800" y="1295400"/>
            <a:ext cx="4114800" cy="4114800"/>
          </a:xfrm>
          <a:prstGeom prst="rect">
            <a:avLst/>
          </a:prstGeom>
        </p:spPr>
        <p:txBody>
          <a:bodyPr wrap="square"/>
          <a:lstStyle/>
          <a:p>
            <a:pPr algn="l">
              <a:spcAft>
                <a:spcPts val="1200"/>
              </a:spcAft>
              <a:buNone/>
            </a:pPr>
            <a:r>
              <a:rPr sz="2000">
                <a:latin typeface="Aptos"/>
              </a:rPr>
              <a:t>Left aligned baseline paragraph one.</a:t>
            </a:r>
          </a:p>
          <a:p>
            <a:pPr algn="l">
              <a:spcAft>
                <a:spcPts val="1200"/>
              </a:spcAft>
              <a:buNone/>
            </a:pPr>
            <a:r>
              <a:rPr sz="2000">
                <a:latin typeface="Aptos"/>
              </a:rPr>
              <a:t>Left aligned baseline paragraph two.</a:t>
            </a:r>
          </a:p>
          <a:p>
            <a:pPr algn="ctr">
              <a:spcAft>
                <a:spcPts val="1200"/>
              </a:spcAft>
              <a:buNone/>
            </a:pPr>
            <a:r>
              <a:rPr sz="2000">
                <a:latin typeface="Aptos"/>
              </a:rPr>
              <a:t>Centered outlier paragraph.</a:t>
            </a:r>
          </a:p>
          <a:p>
            <a:pPr algn="l">
              <a:spcAft>
                <a:spcPts val="1200"/>
              </a:spcAft>
              <a:buNone/>
            </a:pPr>
            <a:r>
              <a:rPr sz="2000">
                <a:latin typeface="Aptos"/>
              </a:rPr>
              <a:t>Left aligned baseline paragraph three.</a:t>
            </a:r>
          </a:p>
        </p:txBody>
      </p:sp>
      <p:sp>
        <p:nvSpPr>
          <p:cNvPr id="4" name="Body 4"/>
          <p:cNvSpPr/>
          <p:nvPr/>
        </p:nvSpPr>
        <p:spPr>
          <a:xfrm>
            <a:off x="5257800" y="1752600"/>
            <a:ext cx="2971800" cy="2057400"/>
          </a:xfrm>
          <a:prstGeom prst="rect">
            <a:avLst/>
          </a:prstGeom>
        </p:spPr>
        <p:txBody>
          <a:bodyPr wrap="square"/>
          <a:lstStyle/>
          <a:p>
            <a:pPr algn="ctr">
              <a:spcAft>
                <a:spcPts val="1800"/>
              </a:spcAft>
              <a:buNone/>
            </a:pPr>
            <a:r>
              <a:rPr sz="2400">
                <a:latin typeface="Aptos"/>
              </a:rPr>
              <a:t>Intentional centered note must stay centered.</a:t>
            </a:r>
          </a:p>
          <a:p>
            <a:pPr algn="ctr">
              <a:buNone/>
            </a:pPr>
            <a:r>
              <a:rPr sz="2000">
                <a:latin typeface="Aptos"/>
              </a:rPr>
              <a:t>This separate centered role is intentional and should not collapse into the body baseline.</a:t>
            </a: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2"/>
          <p:cNvSpPr/>
          <p:nvPr>
            <p:ph type="title"/>
          </p:nvPr>
        </p:nvSpPr>
        <p:spPr>
          <a:xfrm>
            <a:off x="457200" y="274320"/>
            <a:ext cx="8229600" cy="6858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2800">
                <a:latin typeface="Aptos"/>
              </a:rPr>
              <a:t>Master Acceptance: Bullet And Indent Drift</a:t>
            </a:r>
          </a:p>
        </p:txBody>
      </p:sp>
      <p:sp>
        <p:nvSpPr>
          <p:cNvPr id="3" name="Body 3"/>
          <p:cNvSpPr/>
          <p:nvPr/>
        </p:nvSpPr>
        <p:spPr>
          <a:xfrm>
            <a:off x="685800" y="1219200"/>
            <a:ext cx="3657600" cy="4572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2000">
                <a:latin typeface="Aptos"/>
              </a:rPr>
              <a:t>The list below contains one symbol mismatch and one indent jump.</a:t>
            </a:r>
          </a:p>
        </p:txBody>
      </p:sp>
      <p:sp>
        <p:nvSpPr>
          <p:cNvPr id="4" name="Body 4"/>
          <p:cNvSpPr/>
          <p:nvPr/>
        </p:nvSpPr>
        <p:spPr>
          <a:xfrm>
            <a:off x="685800" y="1676400"/>
            <a:ext cx="3657600" cy="3657600"/>
          </a:xfrm>
          <a:prstGeom prst="rect">
            <a:avLst/>
          </a:prstGeom>
        </p:spPr>
        <p:txBody>
          <a:bodyPr wrap="square"/>
          <a:lstStyle/>
          <a:p>
            <a:pPr lvl="0">
              <a:buChar char="•"/>
            </a:pPr>
            <a:r>
              <a:rPr sz="2000">
                <a:latin typeface="Aptos"/>
              </a:rPr>
              <a:t>Root bullet alpha</a:t>
            </a:r>
          </a:p>
          <a:p>
            <a:pPr lvl="0">
              <a:buChar char="•"/>
            </a:pPr>
            <a:r>
              <a:rPr sz="2000">
                <a:latin typeface="Aptos"/>
              </a:rPr>
              <a:t>Root bullet beta</a:t>
            </a:r>
          </a:p>
          <a:p>
            <a:pPr lvl="0">
              <a:buChar char="-"/>
            </a:pPr>
            <a:r>
              <a:rPr sz="2000">
                <a:latin typeface="Aptos"/>
              </a:rPr>
              <a:t>Wrong bullet symbol should normalize.</a:t>
            </a:r>
          </a:p>
          <a:p>
            <a:pPr lvl="2">
              <a:buChar char="•"/>
            </a:pPr>
            <a:r>
              <a:rPr sz="2000">
                <a:latin typeface="Aptos"/>
              </a:rPr>
              <a:t>Unexpected deep indent should normalize.</a:t>
            </a:r>
          </a:p>
          <a:p>
            <a:pPr lvl="0">
              <a:buChar char="•"/>
            </a:pPr>
            <a:r>
              <a:rPr sz="2000">
                <a:latin typeface="Aptos"/>
              </a:rPr>
              <a:t>Root bullet gamma</a:t>
            </a:r>
          </a:p>
        </p:txBody>
      </p:sp>
      <p:sp>
        <p:nvSpPr>
          <p:cNvPr id="5" name="Body 5"/>
          <p:cNvSpPr/>
          <p:nvPr/>
        </p:nvSpPr>
        <p:spPr>
          <a:xfrm>
            <a:off x="4800600" y="1676400"/>
            <a:ext cx="3657600" cy="36576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2000">
                <a:latin typeface="Aptos"/>
              </a:rPr>
              <a:t>Numbered steps should stay numbered and ordered.</a:t>
            </a:r>
          </a:p>
          <a:p>
            <a:pPr lvl="0">
              <a:buAutoNum type="arabicPeriod"/>
            </a:pPr>
            <a:r>
              <a:rPr sz="2000">
                <a:latin typeface="Aptos"/>
              </a:rPr>
              <a:t>Review scope</a:t>
            </a:r>
          </a:p>
          <a:p>
            <a:pPr lvl="0">
              <a:buAutoNum type="arabicPeriod"/>
            </a:pPr>
            <a:r>
              <a:rPr sz="2000">
                <a:latin typeface="Aptos"/>
              </a:rPr>
              <a:t>Normalize only the obvious drift</a:t>
            </a:r>
          </a:p>
          <a:p>
            <a:pPr lvl="0">
              <a:buAutoNum type="arabicPeriod"/>
            </a:pPr>
            <a:r>
              <a:rPr sz="2000">
                <a:latin typeface="Aptos"/>
              </a:rPr>
              <a:t>Keep list intent readable</a:t>
            </a: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2"/>
          <p:cNvSpPr/>
          <p:nvPr>
            <p:ph type="title"/>
          </p:nvPr>
        </p:nvSpPr>
        <p:spPr>
          <a:xfrm>
            <a:off x="457200" y="274320"/>
            <a:ext cx="8229600" cy="6858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2800">
                <a:latin typeface="Aptos"/>
              </a:rPr>
              <a:t>Master Acceptance: Spacing Drift</a:t>
            </a:r>
          </a:p>
        </p:txBody>
      </p:sp>
      <p:sp>
        <p:nvSpPr>
          <p:cNvPr id="3" name="Body 3"/>
          <p:cNvSpPr/>
          <p:nvPr/>
        </p:nvSpPr>
        <p:spPr>
          <a:xfrm>
            <a:off x="685800" y="1295400"/>
            <a:ext cx="3657600" cy="4114800"/>
          </a:xfrm>
          <a:prstGeom prst="rect">
            <a:avLst/>
          </a:prstGeom>
        </p:spPr>
        <p:txBody>
          <a:bodyPr wrap="square"/>
          <a:lstStyle/>
          <a:p>
            <a:pPr>
              <a:spcBef>
                <a:spcPts val="600"/>
              </a:spcBef>
              <a:spcAft>
                <a:spcPts val="1800"/>
              </a:spcAft>
              <a:buNone/>
            </a:pPr>
            <a:r>
              <a:rPr sz="2000">
                <a:latin typeface="Aptos"/>
              </a:rPr>
              <a:t>Paragraph spacing baseline one.</a:t>
            </a:r>
          </a:p>
          <a:p>
            <a:pPr>
              <a:spcBef>
                <a:spcPts val="600"/>
              </a:spcBef>
              <a:spcAft>
                <a:spcPts val="1800"/>
              </a:spcAft>
              <a:buNone/>
            </a:pPr>
            <a:r>
              <a:rPr sz="2000">
                <a:latin typeface="Aptos"/>
              </a:rPr>
              <a:t>Paragraph spacing baseline two.</a:t>
            </a:r>
          </a:p>
          <a:p>
            <a:pPr>
              <a:spcBef>
                <a:spcPts val="0"/>
              </a:spcBef>
              <a:spcAft>
                <a:spcPts val="4000"/>
              </a:spcAft>
              <a:buNone/>
            </a:pPr>
            <a:r>
              <a:rPr sz="2000">
                <a:latin typeface="Aptos"/>
              </a:rPr>
              <a:t>Paragraph spacing outlier should normalize.</a:t>
            </a:r>
          </a:p>
          <a:p>
            <a:pPr>
              <a:spcBef>
                <a:spcPts val="600"/>
              </a:spcBef>
              <a:spcAft>
                <a:spcPts val="1800"/>
              </a:spcAft>
              <a:buNone/>
            </a:pPr>
            <a:r>
              <a:rPr sz="2000">
                <a:latin typeface="Aptos"/>
              </a:rPr>
              <a:t>Paragraph spacing baseline three.</a:t>
            </a:r>
          </a:p>
        </p:txBody>
      </p:sp>
      <p:sp>
        <p:nvSpPr>
          <p:cNvPr id="4" name="Body 4"/>
          <p:cNvSpPr/>
          <p:nvPr/>
        </p:nvSpPr>
        <p:spPr>
          <a:xfrm>
            <a:off x="4800600" y="1295400"/>
            <a:ext cx="3657600" cy="4114800"/>
          </a:xfrm>
          <a:prstGeom prst="rect">
            <a:avLst/>
          </a:prstGeom>
        </p:spPr>
        <p:txBody>
          <a:bodyPr wrap="square"/>
          <a:lstStyle/>
          <a:p>
            <a:pPr>
              <a:spcAft>
                <a:spcPts val="1200"/>
              </a:spcAft>
              <a:lnSpc>
                <a:spcPct val="120000"/>
              </a:lnSpc>
              <a:buNone/>
            </a:pPr>
            <a:r>
              <a:rPr sz="2000">
                <a:latin typeface="Aptos"/>
              </a:rPr>
              <a:t>Line spacing baseline one keeps body text readable over multiple lines for QA review.</a:t>
            </a:r>
          </a:p>
          <a:p>
            <a:pPr>
              <a:spcAft>
                <a:spcPts val="1200"/>
              </a:spcAft>
              <a:lnSpc>
                <a:spcPct val="120000"/>
              </a:lnSpc>
              <a:buNone/>
            </a:pPr>
            <a:r>
              <a:rPr sz="2000">
                <a:latin typeface="Aptos"/>
              </a:rPr>
              <a:t>Line spacing baseline two also stays stable across wrapped text in the same content block.</a:t>
            </a:r>
          </a:p>
          <a:p>
            <a:pPr>
              <a:spcAft>
                <a:spcPts val="1200"/>
              </a:spcAft>
              <a:lnSpc>
                <a:spcPct val="145000"/>
              </a:lnSpc>
              <a:buNone/>
            </a:pPr>
            <a:r>
              <a:rPr sz="2000">
                <a:latin typeface="Aptos"/>
              </a:rPr>
              <a:t>Line spacing outlier should normalize without changing paragraph rhythm elsewhere.</a:t>
            </a:r>
          </a:p>
          <a:p>
            <a:pPr>
              <a:spcAft>
                <a:spcPts val="1200"/>
              </a:spcAft>
              <a:lnSpc>
                <a:spcPct val="120000"/>
              </a:lnSpc>
              <a:buNone/>
            </a:pPr>
            <a:r>
              <a:rPr sz="2000">
                <a:latin typeface="Aptos"/>
              </a:rPr>
              <a:t>Line spacing baseline three closes the block at the original leading.</a:t>
            </a: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2"/>
          <p:cNvSpPr/>
          <p:nvPr>
            <p:ph type="title"/>
          </p:nvPr>
        </p:nvSpPr>
        <p:spPr>
          <a:xfrm>
            <a:off x="457200" y="274320"/>
            <a:ext cx="8229600" cy="6858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2800">
                <a:latin typeface="Aptos"/>
              </a:rPr>
              <a:t>Master Acceptance: QA Matrix</a:t>
            </a:r>
          </a:p>
        </p:txBody>
      </p:sp>
      <p:sp>
        <p:nvSpPr>
          <p:cNvPr id="3" name="Body 3"/>
          <p:cNvSpPr/>
          <p:nvPr/>
        </p:nvSpPr>
        <p:spPr>
          <a:xfrm>
            <a:off x="685800" y="1219200"/>
            <a:ext cx="7772400" cy="4572000"/>
          </a:xfrm>
          <a:prstGeom prst="rect">
            <a:avLst/>
          </a:prstGeom>
        </p:spPr>
        <p:txBody>
          <a:bodyPr wrap="square"/>
          <a:lstStyle/>
          <a:p>
            <a:pPr>
              <a:spcAft>
                <a:spcPts val="1200"/>
              </a:spcAft>
              <a:buNone/>
            </a:pPr>
            <a:r>
              <a:rPr sz="2000">
                <a:latin typeface="Aptos"/>
              </a:rPr>
              <a:t>Clean reference | should remain unchanged</a:t>
            </a:r>
          </a:p>
          <a:p>
            <a:pPr>
              <a:spcAft>
                <a:spcPts val="1200"/>
              </a:spcAft>
              <a:buNone/>
            </a:pPr>
            <a:r>
              <a:rPr sz="2000">
                <a:latin typeface="Aptos"/>
              </a:rPr>
              <a:t>Typography drift | one family outlier + one size outlier + protected callouts</a:t>
            </a:r>
          </a:p>
          <a:p>
            <a:pPr>
              <a:spcAft>
                <a:spcPts val="1200"/>
              </a:spcAft>
              <a:buNone/>
            </a:pPr>
            <a:r>
              <a:rPr sz="2000">
                <a:latin typeface="Aptos"/>
              </a:rPr>
              <a:t>Alignment drift | one local centered false positive + one protected centered role</a:t>
            </a:r>
          </a:p>
          <a:p>
            <a:pPr>
              <a:spcAft>
                <a:spcPts val="1200"/>
              </a:spcAft>
              <a:buNone/>
            </a:pPr>
            <a:r>
              <a:rPr sz="2000">
                <a:latin typeface="Aptos"/>
              </a:rPr>
              <a:t>Bullet and indent drift | one marker mismatch + one indent jump + numbered list intact</a:t>
            </a:r>
          </a:p>
          <a:p>
            <a:pPr>
              <a:spcAft>
                <a:spcPts val="1200"/>
              </a:spcAft>
              <a:buNone/>
            </a:pPr>
            <a:r>
              <a:rPr sz="2000">
                <a:latin typeface="Aptos"/>
              </a:rPr>
              <a:t>Spacing drift | one paragraph spacing outlier + one line spacing outlier</a:t>
            </a:r>
          </a:p>
          <a:p>
            <a:pPr>
              <a:spcAft>
                <a:spcPts val="1200"/>
              </a:spcAft>
              <a:buNone/>
            </a:pPr>
            <a:r>
              <a:rPr sz="2000">
                <a:latin typeface="Aptos"/>
              </a:rPr>
              <a:t>Product review use | stable before and after pass/fail deck for manual QA</a:t>
            </a:r>
          </a:p>
        </p:txBody>
      </p:sp>
    </p:spTree>
  </p:cSld>
</p:sld>
</file>