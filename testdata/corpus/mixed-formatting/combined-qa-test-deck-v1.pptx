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Sz cx="9144000" cy="6858000"/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</p:presentation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  <Relationship Id="rId4" Type="http://schemas.openxmlformats.org/officeDocument/2006/relationships/slide" Target="slides/slide4.xml"/>
  <Relationship Id="rId5" Type="http://schemas.openxmlformats.org/officeDocument/2006/relationships/slide" Target="slides/slide5.xml"/>
  <Relationship Id="rId6" Type="http://schemas.openxmlformats.org/officeDocument/2006/relationships/slide" Target="slides/slide6.xml"/>
  <Relationship Id="rId7" Type="http://schemas.openxmlformats.org/officeDocument/2006/relationships/slide" Target="slides/slide7.xml"/>
  <Relationship Id="rId8" Type="http://schemas.openxmlformats.org/officeDocument/2006/relationships/slide" Target="slides/slide8.xml"/>
  <Relationship Id="rId9" Type="http://schemas.openxmlformats.org/officeDocument/2006/relationships/slide" Target="slides/slide9.xml"/>
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2"/>
          <p:cNvSpPr/>
          <p:nvPr>
            <p:ph type="title"/>
          </p:nvPr>
        </p:nvSpPr>
        <p:spPr>
          <a:xfrm>
            <a:off x="457200" y="274320"/>
            <a:ext cx="8229600" cy="6858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2800">
                <a:latin typeface="Aptos"/>
              </a:rPr>
              <a:t>Combined QA: Clean Reference</a:t>
            </a:r>
          </a:p>
        </p:txBody>
      </p:sp>
      <p:sp>
        <p:nvSpPr>
          <p:cNvPr id="3" name="Body 3"/>
          <p:cNvSpPr/>
          <p:nvPr/>
        </p:nvSpPr>
        <p:spPr>
          <a:xfrm>
            <a:off x="685800" y="1295400"/>
            <a:ext cx="7772400" cy="4206240"/>
          </a:xfrm>
          <a:prstGeom prst="rect">
            <a:avLst/>
          </a:prstGeom>
        </p:spPr>
        <p:txBody>
          <a:bodyPr wrap="square"/>
          <a:lstStyle/>
          <a:p>
            <a:pPr>
              <a:spcAft>
                <a:spcPts val="1800"/>
              </a:spcAft>
              <a:buNone/>
            </a:pPr>
            <a:r>
              <a:rPr sz="2000">
                <a:latin typeface="Aptos"/>
              </a:rPr>
              <a:t>This clean reference slide should remain unchanged after cleanup.</a:t>
            </a:r>
          </a:p>
          <a:p>
            <a:pPr>
              <a:spcAft>
                <a:spcPts val="1800"/>
              </a:spcAft>
              <a:buNone/>
            </a:pPr>
            <a:r>
              <a:rPr sz="2000">
                <a:latin typeface="Aptos"/>
              </a:rPr>
              <a:t>Aptos body copy is explicit and stable across paragraph spacing, line spacing, and alignment.</a:t>
            </a:r>
          </a:p>
          <a:p>
            <a:pPr>
              <a:spcAft>
                <a:spcPts val="1800"/>
              </a:spcAft>
              <a:buNone/>
            </a:pPr>
            <a:r>
              <a:rPr sz="2000">
                <a:latin typeface="Aptos"/>
              </a:rPr>
              <a:t>The slide exists to make manual before and after review easy, not to provoke fixes.</a:t>
            </a:r>
          </a:p>
          <a:p>
            <a:pPr>
              <a:spcAft>
                <a:spcPts val="1800"/>
              </a:spcAft>
              <a:buNone/>
            </a:pPr>
            <a:r>
              <a:rPr sz="2000">
                <a:latin typeface="Aptos"/>
              </a:rPr>
              <a:t>If this slide changes, the QA deck should treat that as a regression signal.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2"/>
          <p:cNvSpPr/>
          <p:nvPr>
            <p:ph type="title"/>
          </p:nvPr>
        </p:nvSpPr>
        <p:spPr>
          <a:xfrm>
            <a:off x="457200" y="274320"/>
            <a:ext cx="8229600" cy="6858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2800">
                <a:latin typeface="Aptos"/>
              </a:rPr>
              <a:t>Combined QA: Typography Drift</a:t>
            </a:r>
          </a:p>
        </p:txBody>
      </p:sp>
      <p:sp>
        <p:nvSpPr>
          <p:cNvPr id="3" name="Body 3"/>
          <p:cNvSpPr/>
          <p:nvPr/>
        </p:nvSpPr>
        <p:spPr>
          <a:xfrm>
            <a:off x="685800" y="1295400"/>
            <a:ext cx="7772400" cy="4206240"/>
          </a:xfrm>
          <a:prstGeom prst="rect">
            <a:avLst/>
          </a:prstGeom>
        </p:spPr>
        <p:txBody>
          <a:bodyPr wrap="square"/>
          <a:lstStyle/>
          <a:p>
            <a:pPr>
              <a:spcAft>
                <a:spcPts val="1800"/>
              </a:spcAft>
              <a:buNone/>
            </a:pPr>
            <a:r>
              <a:rPr sz="2000">
                <a:latin typeface="Aptos"/>
              </a:rPr>
              <a:t>Baseline body paragraph establishes the Aptos family and 20pt size.</a:t>
            </a:r>
          </a:p>
          <a:p>
            <a:pPr>
              <a:spcAft>
                <a:spcPts val="1800"/>
              </a:spcAft>
              <a:buNone/>
            </a:pPr>
            <a:r>
              <a:rPr sz="2000">
                <a:latin typeface="Aptos"/>
              </a:rPr>
              <a:t>One review sentence includes an </a:t>
            </a:r>
            <a:r>
              <a:rPr sz="2000">
                <a:latin typeface="Arial"/>
              </a:rPr>
              <a:t>Arial body-family outlier</a:t>
            </a:r>
            <a:r>
              <a:rPr sz="2000">
                <a:latin typeface="Aptos"/>
              </a:rPr>
              <a:t>, then returns to Aptos and carries a </a:t>
            </a:r>
            <a:r>
              <a:rPr sz="2400">
                <a:latin typeface="Aptos"/>
              </a:rPr>
              <a:t>24pt body-size outlier</a:t>
            </a:r>
            <a:r>
              <a:rPr sz="2000">
                <a:latin typeface="Aptos"/>
              </a:rPr>
              <a:t> that should normalize safely.</a:t>
            </a:r>
          </a:p>
          <a:p>
            <a:pPr>
              <a:spcAft>
                <a:spcPts val="1800"/>
              </a:spcAft>
              <a:buNone/>
            </a:pPr>
            <a:r>
              <a:rPr sz="2000">
                <a:latin typeface="Georgia"/>
              </a:rPr>
              <a:t>Intentional Georgia callout must stay distinct for emphasis.</a:t>
            </a:r>
          </a:p>
          <a:p>
            <a:pPr>
              <a:spcAft>
                <a:spcPts val="1800"/>
              </a:spcAft>
              <a:buNone/>
            </a:pPr>
            <a:r>
              <a:rPr sz="2000">
                <a:latin typeface="Aptos"/>
              </a:rPr>
              <a:t>Body paragraph returns to the Aptos baseline after the protected callout.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2"/>
          <p:cNvSpPr/>
          <p:nvPr>
            <p:ph type="title"/>
          </p:nvPr>
        </p:nvSpPr>
        <p:spPr>
          <a:xfrm>
            <a:off x="457200" y="274320"/>
            <a:ext cx="8229600" cy="6858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2800">
                <a:latin typeface="Aptos"/>
              </a:rPr>
              <a:t>Combined QA: Alignment Drift</a:t>
            </a:r>
          </a:p>
        </p:txBody>
      </p:sp>
      <p:sp>
        <p:nvSpPr>
          <p:cNvPr id="3" name="Body 3"/>
          <p:cNvSpPr/>
          <p:nvPr/>
        </p:nvSpPr>
        <p:spPr>
          <a:xfrm>
            <a:off x="685800" y="1295400"/>
            <a:ext cx="4114800" cy="4206240"/>
          </a:xfrm>
          <a:prstGeom prst="rect">
            <a:avLst/>
          </a:prstGeom>
        </p:spPr>
        <p:txBody>
          <a:bodyPr wrap="square"/>
          <a:lstStyle/>
          <a:p>
            <a:pPr algn="l">
              <a:spcAft>
                <a:spcPts val="1200"/>
              </a:spcAft>
              <a:buNone/>
            </a:pPr>
            <a:r>
              <a:rPr sz="2000">
                <a:latin typeface="Aptos"/>
              </a:rPr>
              <a:t>Left-aligned baseline paragraph one anchors the content block.</a:t>
            </a:r>
          </a:p>
          <a:p>
            <a:pPr algn="l">
              <a:spcAft>
                <a:spcPts val="1200"/>
              </a:spcAft>
              <a:buNone/>
            </a:pPr>
            <a:r>
              <a:rPr sz="2000">
                <a:latin typeface="Aptos"/>
              </a:rPr>
              <a:t>Left-aligned baseline paragraph two repeats the local norm.</a:t>
            </a:r>
          </a:p>
          <a:p>
            <a:pPr algn="ctr">
              <a:spcAft>
                <a:spcPts val="1200"/>
              </a:spcAft>
              <a:buNone/>
            </a:pPr>
            <a:r>
              <a:rPr sz="2000">
                <a:latin typeface="Aptos"/>
              </a:rPr>
              <a:t>Centered local drift paragraph should normalize back to left.</a:t>
            </a:r>
          </a:p>
          <a:p>
            <a:pPr algn="r">
              <a:spcAft>
                <a:spcPts val="1200"/>
              </a:spcAft>
              <a:buNone/>
            </a:pPr>
            <a:r>
              <a:rPr sz="2000">
                <a:latin typeface="Aptos"/>
              </a:rPr>
              <a:t>Right-aligned local drift paragraph should also normalize back to left.</a:t>
            </a:r>
          </a:p>
          <a:p>
            <a:pPr algn="l">
              <a:spcAft>
                <a:spcPts val="1200"/>
              </a:spcAft>
              <a:buNone/>
            </a:pPr>
            <a:r>
              <a:rPr sz="2000">
                <a:latin typeface="Aptos"/>
              </a:rPr>
              <a:t>Left-aligned baseline paragraph three closes the block.</a:t>
            </a:r>
          </a:p>
        </p:txBody>
      </p:sp>
      <p:sp>
        <p:nvSpPr>
          <p:cNvPr id="4" name="Body 4"/>
          <p:cNvSpPr/>
          <p:nvPr/>
        </p:nvSpPr>
        <p:spPr>
          <a:xfrm>
            <a:off x="5257800" y="1752600"/>
            <a:ext cx="2971800" cy="2286000"/>
          </a:xfrm>
          <a:prstGeom prst="rect">
            <a:avLst/>
          </a:prstGeom>
        </p:spPr>
        <p:txBody>
          <a:bodyPr wrap="square"/>
          <a:lstStyle/>
          <a:p>
            <a:pPr algn="ctr">
              <a:spcAft>
                <a:spcPts val="1800"/>
              </a:spcAft>
              <a:buNone/>
            </a:pPr>
            <a:r>
              <a:rPr sz="2400">
                <a:latin typeface="Aptos"/>
              </a:rPr>
              <a:t>Intentional centered role must stay centered.</a:t>
            </a:r>
          </a:p>
          <a:p>
            <a:pPr algn="ctr">
              <a:buNone/>
            </a:pPr>
            <a:r>
              <a:rPr sz="2000">
                <a:latin typeface="Aptos"/>
              </a:rPr>
              <a:t>This separate centered note is intentional and should remain visually distinct.</a:t>
            </a: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2"/>
          <p:cNvSpPr/>
          <p:nvPr>
            <p:ph type="title"/>
          </p:nvPr>
        </p:nvSpPr>
        <p:spPr>
          <a:xfrm>
            <a:off x="457200" y="274320"/>
            <a:ext cx="8229600" cy="6858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2800">
                <a:latin typeface="Aptos"/>
              </a:rPr>
              <a:t>Combined QA: Bullet And Indent Drift</a:t>
            </a:r>
          </a:p>
        </p:txBody>
      </p:sp>
      <p:sp>
        <p:nvSpPr>
          <p:cNvPr id="3" name="Body 3"/>
          <p:cNvSpPr/>
          <p:nvPr/>
        </p:nvSpPr>
        <p:spPr>
          <a:xfrm>
            <a:off x="685800" y="1219200"/>
            <a:ext cx="3657600" cy="457200"/>
          </a:xfrm>
          <a:prstGeom prst="rect">
            <a:avLst/>
          </a:prstGeom>
        </p:spPr>
        <p:txBody>
          <a:bodyPr wrap="square"/>
          <a:lstStyle/>
          <a:p>
            <a:pPr>
              <a:spcAft>
                <a:spcPts val="1200"/>
              </a:spcAft>
              <a:buNone/>
            </a:pPr>
            <a:r>
              <a:rPr sz="2000">
                <a:latin typeface="Aptos"/>
              </a:rPr>
              <a:t>The list below contains one symbol mismatch and one indent jump.</a:t>
            </a:r>
          </a:p>
        </p:txBody>
      </p:sp>
      <p:sp>
        <p:nvSpPr>
          <p:cNvPr id="4" name="Body 4"/>
          <p:cNvSpPr/>
          <p:nvPr/>
        </p:nvSpPr>
        <p:spPr>
          <a:xfrm>
            <a:off x="685800" y="1676400"/>
            <a:ext cx="3657600" cy="3657600"/>
          </a:xfrm>
          <a:prstGeom prst="rect">
            <a:avLst/>
          </a:prstGeom>
        </p:spPr>
        <p:txBody>
          <a:bodyPr wrap="square"/>
          <a:lstStyle/>
          <a:p>
            <a:pPr lvl="0">
              <a:buChar char="•"/>
            </a:pPr>
            <a:r>
              <a:rPr sz="2000">
                <a:latin typeface="Aptos"/>
              </a:rPr>
              <a:t>Root bullet alpha</a:t>
            </a:r>
          </a:p>
          <a:p>
            <a:pPr lvl="0">
              <a:buChar char="•"/>
            </a:pPr>
            <a:r>
              <a:rPr sz="2000">
                <a:latin typeface="Aptos"/>
              </a:rPr>
              <a:t>Root bullet beta</a:t>
            </a:r>
          </a:p>
          <a:p>
            <a:pPr lvl="0">
              <a:buChar char="-"/>
            </a:pPr>
            <a:r>
              <a:rPr sz="2000">
                <a:latin typeface="Aptos"/>
              </a:rPr>
              <a:t>Wrong bullet symbol should normalize.</a:t>
            </a:r>
          </a:p>
          <a:p>
            <a:pPr lvl="2">
              <a:buChar char="•"/>
            </a:pPr>
            <a:r>
              <a:rPr sz="2000">
                <a:latin typeface="Aptos"/>
              </a:rPr>
              <a:t>Unexpected deep indent should normalize.</a:t>
            </a:r>
          </a:p>
          <a:p>
            <a:pPr lvl="0">
              <a:buChar char="•"/>
            </a:pPr>
            <a:r>
              <a:rPr sz="2000">
                <a:latin typeface="Aptos"/>
              </a:rPr>
              <a:t>Root bullet gamma</a:t>
            </a:r>
          </a:p>
        </p:txBody>
      </p:sp>
      <p:sp>
        <p:nvSpPr>
          <p:cNvPr id="5" name="Body 5"/>
          <p:cNvSpPr/>
          <p:nvPr/>
        </p:nvSpPr>
        <p:spPr>
          <a:xfrm>
            <a:off x="4800600" y="1676400"/>
            <a:ext cx="3657600" cy="3657600"/>
          </a:xfrm>
          <a:prstGeom prst="rect">
            <a:avLst/>
          </a:prstGeom>
        </p:spPr>
        <p:txBody>
          <a:bodyPr wrap="square"/>
          <a:lstStyle/>
          <a:p>
            <a:pPr>
              <a:spcAft>
                <a:spcPts val="1200"/>
              </a:spcAft>
              <a:buNone/>
            </a:pPr>
            <a:r>
              <a:rPr sz="2000">
                <a:latin typeface="Aptos"/>
              </a:rPr>
              <a:t>Numbered list must stay numbered and ordered.</a:t>
            </a:r>
          </a:p>
          <a:p>
            <a:pPr lvl="0">
              <a:buAutoNum type="arabicPeriod"/>
            </a:pPr>
            <a:r>
              <a:rPr sz="2000">
                <a:latin typeface="Aptos"/>
              </a:rPr>
              <a:t>Review the combined deck</a:t>
            </a:r>
          </a:p>
          <a:p>
            <a:pPr lvl="0">
              <a:buAutoNum type="arabicPeriod"/>
            </a:pPr>
            <a:r>
              <a:rPr sz="2000">
                <a:latin typeface="Aptos"/>
              </a:rPr>
              <a:t>Normalize only the obvious list drift</a:t>
            </a:r>
          </a:p>
          <a:p>
            <a:pPr lvl="0">
              <a:buAutoNum type="arabicPeriod"/>
            </a:pPr>
            <a:r>
              <a:rPr sz="2000">
                <a:latin typeface="Aptos"/>
              </a:rPr>
              <a:t>Keep numbering intact for manual review</a:t>
            </a:r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2"/>
          <p:cNvSpPr/>
          <p:nvPr>
            <p:ph type="title"/>
          </p:nvPr>
        </p:nvSpPr>
        <p:spPr>
          <a:xfrm>
            <a:off x="457200" y="274320"/>
            <a:ext cx="8229600" cy="6858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2800">
                <a:latin typeface="Aptos"/>
              </a:rPr>
              <a:t>Combined QA: Spacing Drift</a:t>
            </a:r>
          </a:p>
        </p:txBody>
      </p:sp>
      <p:sp>
        <p:nvSpPr>
          <p:cNvPr id="3" name="Body 3"/>
          <p:cNvSpPr/>
          <p:nvPr/>
        </p:nvSpPr>
        <p:spPr>
          <a:xfrm>
            <a:off x="685800" y="1295400"/>
            <a:ext cx="3657600" cy="4206240"/>
          </a:xfrm>
          <a:prstGeom prst="rect">
            <a:avLst/>
          </a:prstGeom>
        </p:spPr>
        <p:txBody>
          <a:bodyPr wrap="square"/>
          <a:lstStyle/>
          <a:p>
            <a:pPr>
              <a:spcBef>
                <a:spcPts val="600"/>
              </a:spcBef>
              <a:spcAft>
                <a:spcPts val="1800"/>
              </a:spcAft>
              <a:buNone/>
            </a:pPr>
            <a:r>
              <a:rPr sz="2000">
                <a:latin typeface="Aptos"/>
              </a:rPr>
              <a:t>Paragraph spacing baseline one.</a:t>
            </a:r>
          </a:p>
          <a:p>
            <a:pPr>
              <a:spcBef>
                <a:spcPts val="600"/>
              </a:spcBef>
              <a:spcAft>
                <a:spcPts val="1800"/>
              </a:spcAft>
              <a:buNone/>
            </a:pPr>
            <a:r>
              <a:rPr sz="2000">
                <a:latin typeface="Aptos"/>
              </a:rPr>
              <a:t>Paragraph spacing baseline two.</a:t>
            </a:r>
          </a:p>
          <a:p>
            <a:pPr>
              <a:spcBef>
                <a:spcPts val="0"/>
              </a:spcBef>
              <a:spcAft>
                <a:spcPts val="4200"/>
              </a:spcAft>
              <a:buNone/>
            </a:pPr>
            <a:r>
              <a:rPr sz="2000">
                <a:latin typeface="Aptos"/>
              </a:rPr>
              <a:t>Paragraph spacing outlier should normalize without flattening the whole slide.</a:t>
            </a:r>
          </a:p>
          <a:p>
            <a:pPr>
              <a:spcBef>
                <a:spcPts val="600"/>
              </a:spcBef>
              <a:spcAft>
                <a:spcPts val="1800"/>
              </a:spcAft>
              <a:buNone/>
            </a:pPr>
            <a:r>
              <a:rPr sz="2000">
                <a:latin typeface="Aptos"/>
              </a:rPr>
              <a:t>Paragraph spacing baseline three returns to the expected rhythm.</a:t>
            </a:r>
          </a:p>
        </p:txBody>
      </p:sp>
      <p:sp>
        <p:nvSpPr>
          <p:cNvPr id="4" name="Body 4"/>
          <p:cNvSpPr/>
          <p:nvPr/>
        </p:nvSpPr>
        <p:spPr>
          <a:xfrm>
            <a:off x="4800600" y="1295400"/>
            <a:ext cx="3657600" cy="4206240"/>
          </a:xfrm>
          <a:prstGeom prst="rect">
            <a:avLst/>
          </a:prstGeom>
        </p:spPr>
        <p:txBody>
          <a:bodyPr wrap="square"/>
          <a:lstStyle/>
          <a:p>
            <a:pPr>
              <a:spcAft>
                <a:spcPts val="1200"/>
              </a:spcAft>
              <a:lnSpc>
                <a:spcPct val="120000"/>
              </a:lnSpc>
              <a:buNone/>
            </a:pPr>
            <a:r>
              <a:rPr sz="2000">
                <a:latin typeface="Aptos"/>
              </a:rPr>
              <a:t>Line spacing baseline one stays readable over wrapped QA text.</a:t>
            </a:r>
          </a:p>
          <a:p>
            <a:pPr>
              <a:spcAft>
                <a:spcPts val="1200"/>
              </a:spcAft>
              <a:lnSpc>
                <a:spcPct val="120000"/>
              </a:lnSpc>
              <a:buNone/>
            </a:pPr>
            <a:r>
              <a:rPr sz="2000">
                <a:latin typeface="Aptos"/>
              </a:rPr>
              <a:t>Line spacing baseline two repeats the same leading to establish a safe norm.</a:t>
            </a:r>
          </a:p>
          <a:p>
            <a:pPr>
              <a:spcAft>
                <a:spcPts val="1200"/>
              </a:spcAft>
              <a:lnSpc>
                <a:spcPct val="145000"/>
              </a:lnSpc>
              <a:buNone/>
            </a:pPr>
            <a:r>
              <a:rPr sz="2000">
                <a:latin typeface="Aptos"/>
              </a:rPr>
              <a:t>Line spacing outlier should normalize without touching paragraph rhythm elsewhere.</a:t>
            </a:r>
          </a:p>
          <a:p>
            <a:pPr>
              <a:spcAft>
                <a:spcPts val="1200"/>
              </a:spcAft>
              <a:lnSpc>
                <a:spcPct val="120000"/>
              </a:lnSpc>
              <a:buNone/>
            </a:pPr>
            <a:r>
              <a:rPr sz="2000">
                <a:latin typeface="Aptos"/>
              </a:rPr>
              <a:t>Line spacing baseline three closes the block at the original leading.</a:t>
            </a:r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2"/>
          <p:cNvSpPr/>
          <p:nvPr>
            <p:ph type="title"/>
          </p:nvPr>
        </p:nvSpPr>
        <p:spPr>
          <a:xfrm>
            <a:off x="457200" y="274320"/>
            <a:ext cx="8229600" cy="6858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2800">
                <a:latin typeface="Aptos"/>
              </a:rPr>
              <a:t>Combined QA: Hostile Mixed Slide</a:t>
            </a:r>
          </a:p>
        </p:txBody>
      </p:sp>
      <p:sp>
        <p:nvSpPr>
          <p:cNvPr id="3" name="Body 3"/>
          <p:cNvSpPr/>
          <p:nvPr/>
        </p:nvSpPr>
        <p:spPr>
          <a:xfrm>
            <a:off x="685800" y="1219200"/>
            <a:ext cx="3657600" cy="4389120"/>
          </a:xfrm>
          <a:prstGeom prst="rect">
            <a:avLst/>
          </a:prstGeom>
        </p:spPr>
        <p:txBody>
          <a:bodyPr wrap="square"/>
          <a:lstStyle/>
          <a:p>
            <a:pPr>
              <a:spcAft>
                <a:spcPts val="1200"/>
              </a:spcAft>
              <a:lnSpc>
                <a:spcPct val="120000"/>
              </a:lnSpc>
              <a:buNone/>
            </a:pPr>
            <a:r>
              <a:rPr sz="2000">
                <a:latin typeface="Aptos"/>
              </a:rPr>
              <a:t>Mixed baseline paragraph anchors this hostile review slide.</a:t>
            </a:r>
          </a:p>
          <a:p>
            <a:pPr algn="ctr">
              <a:spcBef>
                <a:spcPts val="0"/>
              </a:spcBef>
              <a:spcAft>
                <a:spcPts val="3000"/>
              </a:spcAft>
              <a:lnSpc>
                <a:spcPct val="145000"/>
              </a:lnSpc>
              <a:buNone/>
            </a:pPr>
            <a:r>
              <a:rPr sz="2000">
                <a:latin typeface="Aptos"/>
              </a:rPr>
              <a:t>This hostile paragraph mixes </a:t>
            </a:r>
            <a:r>
              <a:rPr sz="2200">
                <a:latin typeface="Arial"/>
              </a:rPr>
              <a:t>Arial</a:t>
            </a:r>
            <a:r>
              <a:rPr sz="2000">
                <a:latin typeface="Aptos"/>
              </a:rPr>
              <a:t> body text with spacing and alignment drift.</a:t>
            </a:r>
          </a:p>
          <a:p>
            <a:pPr>
              <a:spcAft>
                <a:spcPts val="1200"/>
              </a:spcAft>
              <a:buNone/>
            </a:pPr>
            <a:r>
              <a:rPr sz="2000">
                <a:latin typeface="Aptos"/>
              </a:rPr>
              <a:t>A hostile list follows immediately after the typography outlier.</a:t>
            </a:r>
          </a:p>
          <a:p>
            <a:pPr lvl="0">
              <a:buChar char="•"/>
            </a:pPr>
            <a:r>
              <a:rPr sz="2000">
                <a:latin typeface="Aptos"/>
              </a:rPr>
              <a:t>Chaos root bullet</a:t>
            </a:r>
          </a:p>
          <a:p>
            <a:pPr lvl="2">
              <a:buChar char="•"/>
            </a:pPr>
            <a:r>
              <a:rPr sz="2000">
                <a:latin typeface="Aptos"/>
              </a:rPr>
              <a:t>Chaos deep indent</a:t>
            </a:r>
          </a:p>
          <a:p>
            <a:pPr>
              <a:spcAft>
                <a:spcPts val="1200"/>
              </a:spcAft>
              <a:lnSpc>
                <a:spcPct val="120000"/>
              </a:lnSpc>
              <a:buNone/>
            </a:pPr>
            <a:r>
              <a:rPr sz="2000">
                <a:latin typeface="Aptos"/>
              </a:rPr>
              <a:t>Closing baseline paragraph returns to the local body style.</a:t>
            </a:r>
          </a:p>
        </p:txBody>
      </p:sp>
      <p:sp>
        <p:nvSpPr>
          <p:cNvPr id="4" name="Body 4"/>
          <p:cNvSpPr/>
          <p:nvPr/>
        </p:nvSpPr>
        <p:spPr>
          <a:xfrm>
            <a:off x="4800600" y="1676400"/>
            <a:ext cx="3657600" cy="2743200"/>
          </a:xfrm>
          <a:prstGeom prst="rect">
            <a:avLst/>
          </a:prstGeom>
        </p:spPr>
        <p:txBody>
          <a:bodyPr wrap="square"/>
          <a:lstStyle/>
          <a:p>
            <a:pPr algn="r">
              <a:spcAft>
                <a:spcPts val="1200"/>
              </a:spcAft>
              <a:buNone/>
            </a:pPr>
            <a:r>
              <a:rPr sz="2000">
                <a:latin typeface="Aptos"/>
              </a:rPr>
              <a:t>Right-aligned note here is hostile local drift, not a protected role.</a:t>
            </a:r>
          </a:p>
          <a:p>
            <a:pPr algn="r">
              <a:spcAft>
                <a:spcPts val="1200"/>
              </a:spcAft>
              <a:buNone/>
            </a:pPr>
            <a:r>
              <a:rPr sz="2000">
                <a:latin typeface="Aptos"/>
              </a:rPr>
              <a:t>The engine should improve this slide but may still leave mixed-category residuals.</a:t>
            </a:r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2"/>
          <p:cNvSpPr/>
          <p:nvPr>
            <p:ph type="title"/>
          </p:nvPr>
        </p:nvSpPr>
        <p:spPr>
          <a:xfrm>
            <a:off x="457200" y="274320"/>
            <a:ext cx="8229600" cy="6858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2800">
                <a:latin typeface="Aptos"/>
              </a:rPr>
              <a:t>Combined QA: Boundary Hero</a:t>
            </a:r>
          </a:p>
        </p:txBody>
      </p:sp>
      <p:sp>
        <p:nvSpPr>
          <p:cNvPr id="3" name="Body 3"/>
          <p:cNvSpPr/>
          <p:nvPr/>
        </p:nvSpPr>
        <p:spPr>
          <a:xfrm>
            <a:off x="1371600" y="1463040"/>
            <a:ext cx="6400800" cy="2743200"/>
          </a:xfrm>
          <a:prstGeom prst="rect">
            <a:avLst/>
          </a:prstGeom>
        </p:spPr>
        <p:txBody>
          <a:bodyPr wrap="square"/>
          <a:lstStyle/>
          <a:p>
            <a:pPr algn="ctr">
              <a:spcAft>
                <a:spcPts val="1800"/>
              </a:spcAft>
              <a:buNone/>
            </a:pPr>
            <a:r>
              <a:rPr sz="3000">
                <a:latin typeface="Aptos"/>
              </a:rPr>
              <a:t>Centered hero composition must stay centered.</a:t>
            </a:r>
          </a:p>
          <a:p>
            <a:pPr algn="ctr">
              <a:spcAft>
                <a:spcPts val="1800"/>
              </a:spcAft>
              <a:buNone/>
            </a:pPr>
            <a:r>
              <a:rPr sz="2000">
                <a:latin typeface="Aptos"/>
              </a:rPr>
              <a:t>The supporting subtitle remains centered to prove the engine does not flatten hero layouts.</a:t>
            </a:r>
          </a:p>
          <a:p>
            <a:pPr algn="ctr">
              <a:buNone/>
            </a:pPr>
            <a:r>
              <a:rPr sz="2000">
                <a:latin typeface="Aptos"/>
              </a:rPr>
              <a:t>This boundary slide should stay visually intact.</a:t>
            </a:r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2"/>
          <p:cNvSpPr/>
          <p:nvPr>
            <p:ph type="title"/>
          </p:nvPr>
        </p:nvSpPr>
        <p:spPr>
          <a:xfrm>
            <a:off x="457200" y="274320"/>
            <a:ext cx="8229600" cy="6858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2800">
                <a:latin typeface="Aptos"/>
              </a:rPr>
              <a:t>Combined QA: Boundary Roles</a:t>
            </a:r>
          </a:p>
        </p:txBody>
      </p:sp>
      <p:sp>
        <p:nvSpPr>
          <p:cNvPr id="3" name="Body 3"/>
          <p:cNvSpPr/>
          <p:nvPr/>
        </p:nvSpPr>
        <p:spPr>
          <a:xfrm>
            <a:off x="685800" y="1295400"/>
            <a:ext cx="3429000" cy="3429000"/>
          </a:xfrm>
          <a:prstGeom prst="rect">
            <a:avLst/>
          </a:prstGeom>
        </p:spPr>
        <p:txBody>
          <a:bodyPr wrap="square"/>
          <a:lstStyle/>
          <a:p>
            <a:pPr algn="l">
              <a:spcAft>
                <a:spcPts val="1200"/>
              </a:spcAft>
              <a:buNone/>
            </a:pPr>
            <a:r>
              <a:rPr sz="2000">
                <a:latin typeface="Aptos"/>
              </a:rPr>
              <a:t>Left body baseline anchors the mixed role slide.</a:t>
            </a:r>
          </a:p>
          <a:p>
            <a:pPr algn="l">
              <a:spcAft>
                <a:spcPts val="1200"/>
              </a:spcAft>
              <a:buNone/>
            </a:pPr>
            <a:r>
              <a:rPr sz="2000">
                <a:latin typeface="Aptos"/>
              </a:rPr>
              <a:t>A second left body paragraph keeps the baseline stable.</a:t>
            </a:r>
          </a:p>
          <a:p>
            <a:pPr>
              <a:spcAft>
                <a:spcPts val="1200"/>
              </a:spcAft>
              <a:buNone/>
            </a:pPr>
            <a:r>
              <a:rPr sz="2000">
                <a:latin typeface="Georgia"/>
              </a:rPr>
              <a:t>Intentional Georgia callout must stay distinct.</a:t>
            </a:r>
          </a:p>
        </p:txBody>
      </p:sp>
      <p:sp>
        <p:nvSpPr>
          <p:cNvPr id="4" name="Body 4"/>
          <p:cNvSpPr/>
          <p:nvPr/>
        </p:nvSpPr>
        <p:spPr>
          <a:xfrm>
            <a:off x="4572000" y="1524000"/>
            <a:ext cx="3429000" cy="1828800"/>
          </a:xfrm>
          <a:prstGeom prst="rect">
            <a:avLst/>
          </a:prstGeom>
        </p:spPr>
        <p:txBody>
          <a:bodyPr wrap="square"/>
          <a:lstStyle/>
          <a:p>
            <a:pPr algn="r">
              <a:spcAft>
                <a:spcPts val="1800"/>
              </a:spcAft>
              <a:buNone/>
            </a:pPr>
            <a:r>
              <a:rPr sz="2800">
                <a:latin typeface="Aptos"/>
              </a:rPr>
              <a:t>Right-aligned KPI must stay right.</a:t>
            </a:r>
          </a:p>
          <a:p>
            <a:pPr algn="r">
              <a:buNone/>
            </a:pPr>
            <a:r>
              <a:rPr sz="2000">
                <a:latin typeface="Aptos"/>
              </a:rPr>
              <a:t>Right-aligned attribution must stay right.</a:t>
            </a:r>
          </a:p>
        </p:txBody>
      </p:sp>
      <p:sp>
        <p:nvSpPr>
          <p:cNvPr id="5" name="Body 5"/>
          <p:cNvSpPr/>
          <p:nvPr/>
        </p:nvSpPr>
        <p:spPr>
          <a:xfrm>
            <a:off x="3200400" y="3810000"/>
            <a:ext cx="2743200" cy="1143000"/>
          </a:xfrm>
          <a:prstGeom prst="rect">
            <a:avLst/>
          </a:prstGeom>
        </p:spPr>
        <p:txBody>
          <a:bodyPr wrap="square"/>
          <a:lstStyle/>
          <a:p>
            <a:pPr algn="ctr">
              <a:spcAft>
                <a:spcPts val="1200"/>
              </a:spcAft>
              <a:buNone/>
            </a:pPr>
            <a:r>
              <a:rPr sz="2400">
                <a:latin typeface="Aptos"/>
              </a:rPr>
              <a:t>Intentional centered quote must stay centered.</a:t>
            </a:r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2"/>
          <p:cNvSpPr/>
          <p:nvPr>
            <p:ph type="title"/>
          </p:nvPr>
        </p:nvSpPr>
        <p:spPr>
          <a:xfrm>
            <a:off x="457200" y="274320"/>
            <a:ext cx="8229600" cy="6858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2800">
                <a:latin typeface="Aptos"/>
              </a:rPr>
              <a:t>Combined QA: Manual Checklist</a:t>
            </a:r>
          </a:p>
        </p:txBody>
      </p:sp>
      <p:sp>
        <p:nvSpPr>
          <p:cNvPr id="3" name="Body 3"/>
          <p:cNvSpPr/>
          <p:nvPr/>
        </p:nvSpPr>
        <p:spPr>
          <a:xfrm>
            <a:off x="685800" y="1219200"/>
            <a:ext cx="7772400" cy="4572000"/>
          </a:xfrm>
          <a:prstGeom prst="rect">
            <a:avLst/>
          </a:prstGeom>
        </p:spPr>
        <p:txBody>
          <a:bodyPr wrap="square"/>
          <a:lstStyle/>
          <a:p>
            <a:pPr>
              <a:spcAft>
                <a:spcPts val="1200"/>
              </a:spcAft>
              <a:buNone/>
            </a:pPr>
            <a:r>
              <a:rPr sz="2000">
                <a:latin typeface="Aptos"/>
              </a:rPr>
              <a:t>Slide 1 | Clean reference | unchanged | pending manual review</a:t>
            </a:r>
          </a:p>
          <a:p>
            <a:pPr>
              <a:spcAft>
                <a:spcPts val="1200"/>
              </a:spcAft>
              <a:buNone/>
            </a:pPr>
            <a:r>
              <a:rPr sz="2000">
                <a:latin typeface="Aptos"/>
              </a:rPr>
              <a:t>Slide 2 | Typography drift | family/size outliers normalize, Georgia stays | pending manual review</a:t>
            </a:r>
          </a:p>
          <a:p>
            <a:pPr>
              <a:spcAft>
                <a:spcPts val="1200"/>
              </a:spcAft>
              <a:buNone/>
            </a:pPr>
            <a:r>
              <a:rPr sz="2000">
                <a:latin typeface="Aptos"/>
              </a:rPr>
              <a:t>Slide 3 | Alignment drift | centered/right local drift normalize, centered role stays | pending manual review</a:t>
            </a:r>
          </a:p>
          <a:p>
            <a:pPr>
              <a:spcAft>
                <a:spcPts val="1200"/>
              </a:spcAft>
              <a:buNone/>
            </a:pPr>
            <a:r>
              <a:rPr sz="2000">
                <a:latin typeface="Aptos"/>
              </a:rPr>
              <a:t>Slide 4 | Bullet and indent drift | symbol and indent normalize, numbering stays | pending manual review</a:t>
            </a:r>
          </a:p>
          <a:p>
            <a:pPr>
              <a:spcAft>
                <a:spcPts val="1200"/>
              </a:spcAft>
              <a:buNone/>
            </a:pPr>
            <a:r>
              <a:rPr sz="2000">
                <a:latin typeface="Aptos"/>
              </a:rPr>
              <a:t>Slide 5 | Spacing drift | line and paragraph spacing improve safely | pending manual review</a:t>
            </a:r>
          </a:p>
          <a:p>
            <a:pPr>
              <a:spcAft>
                <a:spcPts val="1200"/>
              </a:spcAft>
              <a:buNone/>
            </a:pPr>
            <a:r>
              <a:rPr sz="2000">
                <a:latin typeface="Aptos"/>
              </a:rPr>
              <a:t>Slide 6 | Hostile mixed | multiple categories improve without obvious collateral damage | pending manual review</a:t>
            </a:r>
          </a:p>
          <a:p>
            <a:pPr>
              <a:spcAft>
                <a:spcPts val="1200"/>
              </a:spcAft>
              <a:buNone/>
            </a:pPr>
            <a:r>
              <a:rPr sz="2000">
                <a:latin typeface="Aptos"/>
              </a:rPr>
              <a:t>Slides 7-8 | Boundary roles | centered, right-aligned, and distinct typography roles survive | pending manual review</a:t>
            </a:r>
          </a:p>
        </p:txBody>
      </p:sp>
    </p:spTree>
  </p:cSld>
</p:sld>
</file>