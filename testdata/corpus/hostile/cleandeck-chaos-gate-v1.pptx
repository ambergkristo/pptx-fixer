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Sz cx="9144000" cy="6858000"/>
  <p:sldIdLst>
    <p:sldId id="256" r:id="rId1"/>
    <p:sldId id="257" r:id="rId2"/>
    <p:sldId id="258" r:id="rId3"/>
    <p:sldId id="259" r:id="rId4"/>
    <p:sldId id="260" r:id="rId5"/>
    <p:sldId id="261" r:id="rId6"/>
    <p:sldId id="262" r:id="rId7"/>
  </p:sldIdLst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/>
          <p:nvPr>
            <p:ph type="title"/>
          </p:nvPr>
        </p:nvSpPr>
        <p:spPr>
          <a:xfrm>
            <a:off x="457200" y="27432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2800">
                <a:latin typeface="Aptos"/>
              </a:rPr>
              <a:t>Chaos Gate: Mixed Hostile Typography</a:t>
            </a:r>
          </a:p>
        </p:txBody>
      </p:sp>
      <p:sp>
        <p:nvSpPr>
          <p:cNvPr id="3" name="Body 3"/>
          <p:cNvSpPr/>
          <p:nvPr/>
        </p:nvSpPr>
        <p:spPr>
          <a:xfrm>
            <a:off x="685800" y="1295400"/>
            <a:ext cx="7772400" cy="4206240"/>
          </a:xfrm>
          <a:prstGeom prst="rect">
            <a:avLst/>
          </a:prstGeom>
        </p:spPr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000">
                <a:latin typeface="Aptos"/>
              </a:rPr>
              <a:t>Baseline body paragraph establishes the Aptos family and 20pt size.</a:t>
            </a:r>
          </a:p>
          <a:p>
            <a:pPr>
              <a:spcAft>
                <a:spcPts val="1200"/>
              </a:spcAft>
              <a:buNone/>
            </a:pPr>
            <a:r>
              <a:rPr sz="2000">
                <a:latin typeface="Aptos"/>
              </a:rPr>
              <a:t>A hostile sentence mixes </a:t>
            </a:r>
            <a:r>
              <a:rPr sz="2000">
                <a:latin typeface="Arial"/>
              </a:rPr>
              <a:t>Arial</a:t>
            </a:r>
            <a:r>
              <a:rPr sz="2000">
                <a:latin typeface="Aptos"/>
              </a:rPr>
              <a:t>, </a:t>
            </a:r>
            <a:r>
              <a:rPr sz="2200">
                <a:latin typeface="Georgia"/>
              </a:rPr>
              <a:t>Georgia</a:t>
            </a:r>
            <a:r>
              <a:rPr sz="2000">
                <a:latin typeface="Aptos"/>
              </a:rPr>
              <a:t>, and a </a:t>
            </a:r>
            <a:r>
              <a:rPr sz="2400">
                <a:latin typeface="Aptos"/>
              </a:rPr>
              <a:t>24pt Aptos fragment</a:t>
            </a:r>
            <a:r>
              <a:rPr sz="2000">
                <a:latin typeface="Aptos"/>
              </a:rPr>
              <a:t> in one paragraph.</a:t>
            </a:r>
          </a:p>
          <a:p>
            <a:pPr>
              <a:spcAft>
                <a:spcPts val="1200"/>
              </a:spcAft>
              <a:buNone/>
            </a:pPr>
            <a:r>
              <a:rPr sz="2000">
                <a:latin typeface="Aptos"/>
              </a:rPr>
              <a:t>A second baseline paragraph confirms the local body role.</a:t>
            </a:r>
          </a:p>
          <a:p>
            <a:pPr>
              <a:spcAft>
                <a:spcPts val="1200"/>
              </a:spcAft>
              <a:buNone/>
            </a:pPr>
            <a:r>
              <a:rPr sz="2000">
                <a:latin typeface="Times New Roman"/>
              </a:rPr>
              <a:t>A title-family mismatch below should normalize only if evidence is strong enough.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/>
          <p:nvPr>
            <p:ph type="title"/>
          </p:nvPr>
        </p:nvSpPr>
        <p:spPr>
          <a:xfrm>
            <a:off x="457200" y="27432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2800">
                <a:latin typeface="Aptos"/>
              </a:rPr>
              <a:t>Chaos Gate: Alignment Variance</a:t>
            </a:r>
          </a:p>
        </p:txBody>
      </p:sp>
      <p:sp>
        <p:nvSpPr>
          <p:cNvPr id="3" name="Body 3"/>
          <p:cNvSpPr/>
          <p:nvPr/>
        </p:nvSpPr>
        <p:spPr>
          <a:xfrm>
            <a:off x="685800" y="1295400"/>
            <a:ext cx="7772400" cy="4206240"/>
          </a:xfrm>
          <a:prstGeom prst="rect">
            <a:avLst/>
          </a:prstGeom>
        </p:spPr>
        <p:txBody>
          <a:bodyPr wrap="square"/>
          <a:lstStyle/>
          <a:p>
            <a:pPr algn="l">
              <a:spcAft>
                <a:spcPts val="1200"/>
              </a:spcAft>
              <a:buNone/>
            </a:pPr>
            <a:r>
              <a:rPr sz="2000">
                <a:latin typeface="Aptos"/>
              </a:rPr>
              <a:t>Left aligned baseline paragraph one.</a:t>
            </a:r>
          </a:p>
          <a:p>
            <a:pPr algn="r">
              <a:spcAft>
                <a:spcPts val="1200"/>
              </a:spcAft>
              <a:buNone/>
            </a:pPr>
            <a:r>
              <a:rPr sz="2000">
                <a:latin typeface="Aptos"/>
              </a:rPr>
              <a:t>Right aligned outlier paragraph.</a:t>
            </a:r>
          </a:p>
          <a:p>
            <a:pPr algn="l">
              <a:spcAft>
                <a:spcPts val="1200"/>
              </a:spcAft>
              <a:buNone/>
            </a:pPr>
            <a:r>
              <a:rPr sz="2000">
                <a:latin typeface="Aptos"/>
              </a:rPr>
              <a:t>Left aligned baseline paragraph two.</a:t>
            </a:r>
          </a:p>
          <a:p>
            <a:pPr algn="ctr">
              <a:spcAft>
                <a:spcPts val="1200"/>
              </a:spcAft>
              <a:buNone/>
            </a:pPr>
            <a:r>
              <a:rPr sz="2000">
                <a:latin typeface="Aptos"/>
              </a:rPr>
              <a:t>Centered outlier paragraph.</a:t>
            </a:r>
          </a:p>
          <a:p>
            <a:pPr algn="l">
              <a:spcAft>
                <a:spcPts val="1200"/>
              </a:spcAft>
              <a:buNone/>
            </a:pPr>
            <a:r>
              <a:rPr sz="2000">
                <a:latin typeface="Aptos"/>
              </a:rPr>
              <a:t>Left aligned baseline paragraph three.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/>
          <p:nvPr>
            <p:ph type="title"/>
          </p:nvPr>
        </p:nvSpPr>
        <p:spPr>
          <a:xfrm>
            <a:off x="457200" y="27432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2800">
                <a:latin typeface="Aptos"/>
              </a:rPr>
              <a:t>Chaos Gate: Bullet Marker And Indent Variance</a:t>
            </a:r>
          </a:p>
        </p:txBody>
      </p:sp>
      <p:sp>
        <p:nvSpPr>
          <p:cNvPr id="3" name="Body 3"/>
          <p:cNvSpPr/>
          <p:nvPr/>
        </p:nvSpPr>
        <p:spPr>
          <a:xfrm>
            <a:off x="685800" y="1219200"/>
            <a:ext cx="3657600" cy="4572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2000">
                <a:latin typeface="Aptos"/>
              </a:rPr>
              <a:t>Symbol list contains both a marker mismatch and an indent jump.</a:t>
            </a:r>
          </a:p>
        </p:txBody>
      </p:sp>
      <p:sp>
        <p:nvSpPr>
          <p:cNvPr id="4" name="Body 4"/>
          <p:cNvSpPr/>
          <p:nvPr/>
        </p:nvSpPr>
        <p:spPr>
          <a:xfrm>
            <a:off x="685800" y="1676400"/>
            <a:ext cx="3657600" cy="3657600"/>
          </a:xfrm>
          <a:prstGeom prst="rect">
            <a:avLst/>
          </a:prstGeom>
        </p:spPr>
        <p:txBody>
          <a:bodyPr wrap="square"/>
          <a:lstStyle/>
          <a:p>
            <a:pPr lvl="0">
              <a:buChar char="•"/>
            </a:pPr>
            <a:r>
              <a:rPr sz="2000">
                <a:latin typeface="Aptos"/>
              </a:rPr>
              <a:t>Root bullet alpha</a:t>
            </a:r>
          </a:p>
          <a:p>
            <a:pPr lvl="0">
              <a:buChar char="•"/>
            </a:pPr>
            <a:r>
              <a:rPr sz="2000">
                <a:latin typeface="Aptos"/>
              </a:rPr>
              <a:t>Root bullet beta</a:t>
            </a:r>
          </a:p>
          <a:p>
            <a:pPr lvl="0">
              <a:buChar char="-"/>
            </a:pPr>
            <a:r>
              <a:rPr sz="2000">
                <a:latin typeface="Aptos"/>
              </a:rPr>
              <a:t>Marker mismatch item</a:t>
            </a:r>
          </a:p>
          <a:p>
            <a:pPr lvl="2">
              <a:buChar char="•"/>
            </a:pPr>
            <a:r>
              <a:rPr sz="2000">
                <a:latin typeface="Aptos"/>
              </a:rPr>
              <a:t>Indent jump item</a:t>
            </a:r>
          </a:p>
          <a:p>
            <a:pPr lvl="0">
              <a:buChar char="•"/>
            </a:pPr>
            <a:r>
              <a:rPr sz="2000">
                <a:latin typeface="Aptos"/>
              </a:rPr>
              <a:t>Root bullet gamma</a:t>
            </a:r>
          </a:p>
        </p:txBody>
      </p:sp>
      <p:sp>
        <p:nvSpPr>
          <p:cNvPr id="5" name="Body 5"/>
          <p:cNvSpPr/>
          <p:nvPr/>
        </p:nvSpPr>
        <p:spPr>
          <a:xfrm>
            <a:off x="4800600" y="1676400"/>
            <a:ext cx="3657600" cy="36576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2000">
                <a:latin typeface="Aptos"/>
              </a:rPr>
              <a:t>Numbered list must stay numbered and ordered.</a:t>
            </a:r>
          </a:p>
          <a:p>
            <a:pPr lvl="0">
              <a:buAutoNum type="arabicPeriod"/>
            </a:pPr>
            <a:r>
              <a:rPr sz="2000">
                <a:latin typeface="Aptos"/>
              </a:rPr>
              <a:t>Open review</a:t>
            </a:r>
          </a:p>
          <a:p>
            <a:pPr lvl="0">
              <a:buAutoNum type="arabicPeriod"/>
            </a:pPr>
            <a:r>
              <a:rPr sz="2000">
                <a:latin typeface="Aptos"/>
              </a:rPr>
              <a:t>Inspect symbol cleanup</a:t>
            </a:r>
          </a:p>
          <a:p>
            <a:pPr lvl="0">
              <a:buAutoNum type="arabicPeriod"/>
            </a:pPr>
            <a:r>
              <a:rPr sz="2000">
                <a:latin typeface="Aptos"/>
              </a:rPr>
              <a:t>Keep numbering intact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/>
          <p:nvPr>
            <p:ph type="title"/>
          </p:nvPr>
        </p:nvSpPr>
        <p:spPr>
          <a:xfrm>
            <a:off x="457200" y="27432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2800">
                <a:latin typeface="Aptos"/>
              </a:rPr>
              <a:t>Chaos Gate: Line Spacing Extremes</a:t>
            </a:r>
          </a:p>
        </p:txBody>
      </p:sp>
      <p:sp>
        <p:nvSpPr>
          <p:cNvPr id="3" name="Body 3"/>
          <p:cNvSpPr/>
          <p:nvPr/>
        </p:nvSpPr>
        <p:spPr>
          <a:xfrm>
            <a:off x="685800" y="1295400"/>
            <a:ext cx="7772400" cy="4206240"/>
          </a:xfrm>
          <a:prstGeom prst="rect">
            <a:avLst/>
          </a:prstGeom>
        </p:spPr>
        <p:txBody>
          <a:bodyPr wrap="square"/>
          <a:lstStyle/>
          <a:p>
            <a:pPr>
              <a:spcAft>
                <a:spcPts val="1200"/>
              </a:spcAft>
              <a:lnSpc>
                <a:spcPct val="120000"/>
              </a:lnSpc>
              <a:buNone/>
            </a:pPr>
            <a:r>
              <a:rPr sz="2000">
                <a:latin typeface="Aptos"/>
              </a:rPr>
              <a:t>Line spacing baseline one keeps review text readable across wrapped content for QA.</a:t>
            </a:r>
          </a:p>
          <a:p>
            <a:pPr>
              <a:spcAft>
                <a:spcPts val="1200"/>
              </a:spcAft>
              <a:lnSpc>
                <a:spcPct val="120000"/>
              </a:lnSpc>
              <a:buNone/>
            </a:pPr>
            <a:r>
              <a:rPr sz="2000">
                <a:latin typeface="Aptos"/>
              </a:rPr>
              <a:t>Line spacing baseline two repeats the same leading to establish a strong local norm.</a:t>
            </a:r>
          </a:p>
          <a:p>
            <a:pPr>
              <a:spcAft>
                <a:spcPts val="1200"/>
              </a:spcAft>
              <a:lnSpc>
                <a:spcPct val="90000"/>
              </a:lnSpc>
              <a:buNone/>
            </a:pPr>
            <a:r>
              <a:rPr sz="2000">
                <a:latin typeface="Aptos"/>
              </a:rPr>
              <a:t>The hostile outlier compresses leading hard and should normalize without breaking the block.</a:t>
            </a:r>
          </a:p>
          <a:p>
            <a:pPr>
              <a:spcAft>
                <a:spcPts val="1200"/>
              </a:spcAft>
              <a:lnSpc>
                <a:spcPct val="160000"/>
              </a:lnSpc>
              <a:buNone/>
            </a:pPr>
            <a:r>
              <a:rPr sz="2000">
                <a:latin typeface="Aptos"/>
              </a:rPr>
              <a:t>A second hostile outlier pushes leading loose to stress the same cleanup path.</a:t>
            </a:r>
          </a:p>
          <a:p>
            <a:pPr>
              <a:spcAft>
                <a:spcPts val="1200"/>
              </a:spcAft>
              <a:lnSpc>
                <a:spcPct val="120000"/>
              </a:lnSpc>
              <a:buNone/>
            </a:pPr>
            <a:r>
              <a:rPr sz="2000">
                <a:latin typeface="Aptos"/>
              </a:rPr>
              <a:t>Line spacing baseline three closes the block at the original leading.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/>
          <p:nvPr>
            <p:ph type="title"/>
          </p:nvPr>
        </p:nvSpPr>
        <p:spPr>
          <a:xfrm>
            <a:off x="457200" y="27432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2800">
                <a:latin typeface="Aptos"/>
              </a:rPr>
              <a:t>Chaos Gate: Paragraph Spacing Extremes</a:t>
            </a:r>
          </a:p>
        </p:txBody>
      </p:sp>
      <p:sp>
        <p:nvSpPr>
          <p:cNvPr id="3" name="Body 3"/>
          <p:cNvSpPr/>
          <p:nvPr/>
        </p:nvSpPr>
        <p:spPr>
          <a:xfrm>
            <a:off x="685800" y="1295400"/>
            <a:ext cx="7772400" cy="4206240"/>
          </a:xfrm>
          <a:prstGeom prst="rect">
            <a:avLst/>
          </a:prstGeom>
        </p:spPr>
        <p:txBody>
          <a:bodyPr wrap="square"/>
          <a:lstStyle/>
          <a:p>
            <a:pPr>
              <a:spcBef>
                <a:spcPts val="600"/>
              </a:spcBef>
              <a:spcAft>
                <a:spcPts val="1800"/>
              </a:spcAft>
              <a:buNone/>
            </a:pPr>
            <a:r>
              <a:rPr sz="2000">
                <a:latin typeface="Aptos"/>
              </a:rPr>
              <a:t>Paragraph spacing baseline one.</a:t>
            </a:r>
          </a:p>
          <a:p>
            <a:pPr>
              <a:spcBef>
                <a:spcPts val="600"/>
              </a:spcBef>
              <a:spcAft>
                <a:spcPts val="1800"/>
              </a:spcAft>
              <a:buNone/>
            </a:pPr>
            <a:r>
              <a:rPr sz="2000">
                <a:latin typeface="Aptos"/>
              </a:rPr>
              <a:t>Paragraph spacing baseline two.</a:t>
            </a:r>
          </a:p>
          <a:p>
            <a:pPr>
              <a:spcBef>
                <a:spcPts val="0"/>
              </a:spcBef>
              <a:spcAft>
                <a:spcPts val="4200"/>
              </a:spcAft>
              <a:buNone/>
            </a:pPr>
            <a:r>
              <a:rPr sz="2000">
                <a:latin typeface="Aptos"/>
              </a:rPr>
              <a:t>Paragraph spacing outlier collapses before-space and exaggerates after-space.</a:t>
            </a:r>
          </a:p>
          <a:p>
            <a:pPr>
              <a:spcBef>
                <a:spcPts val="2400"/>
              </a:spcBef>
              <a:spcAft>
                <a:spcPts val="0"/>
              </a:spcAft>
              <a:buNone/>
            </a:pPr>
            <a:r>
              <a:rPr sz="2000">
                <a:latin typeface="Aptos"/>
              </a:rPr>
              <a:t>Another spacing outlier adds excess before-space and no after-space at all.</a:t>
            </a:r>
          </a:p>
          <a:p>
            <a:pPr>
              <a:spcBef>
                <a:spcPts val="600"/>
              </a:spcBef>
              <a:spcAft>
                <a:spcPts val="1800"/>
              </a:spcAft>
              <a:buNone/>
            </a:pPr>
            <a:r>
              <a:rPr sz="2000">
                <a:latin typeface="Aptos"/>
              </a:rPr>
              <a:t>Paragraph spacing baseline three returns to the expected rhythm.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/>
          <p:nvPr>
            <p:ph type="title"/>
          </p:nvPr>
        </p:nvSpPr>
        <p:spPr>
          <a:xfrm>
            <a:off x="457200" y="27432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2800">
                <a:latin typeface="Aptos"/>
              </a:rPr>
              <a:t>Chaos Gate: Mixed Chaos Slide</a:t>
            </a:r>
          </a:p>
        </p:txBody>
      </p:sp>
      <p:sp>
        <p:nvSpPr>
          <p:cNvPr id="3" name="Body 3"/>
          <p:cNvSpPr/>
          <p:nvPr/>
        </p:nvSpPr>
        <p:spPr>
          <a:xfrm>
            <a:off x="685800" y="1219200"/>
            <a:ext cx="3657600" cy="4297680"/>
          </a:xfrm>
          <a:prstGeom prst="rect">
            <a:avLst/>
          </a:prstGeom>
        </p:spPr>
        <p:txBody>
          <a:bodyPr wrap="square"/>
          <a:lstStyle/>
          <a:p>
            <a:pPr>
              <a:spcAft>
                <a:spcPts val="1200"/>
              </a:spcAft>
              <a:lnSpc>
                <a:spcPct val="120000"/>
              </a:lnSpc>
              <a:buNone/>
            </a:pPr>
            <a:r>
              <a:rPr sz="2000">
                <a:latin typeface="Aptos"/>
              </a:rPr>
              <a:t>Mixed body baseline paragraph anchors this slide.</a:t>
            </a:r>
          </a:p>
          <a:p>
            <a:pPr algn="ctr">
              <a:spcBef>
                <a:spcPts val="0"/>
              </a:spcBef>
              <a:spcAft>
                <a:spcPts val="3000"/>
              </a:spcAft>
              <a:lnSpc>
                <a:spcPct val="145000"/>
              </a:lnSpc>
              <a:buNone/>
            </a:pPr>
            <a:r>
              <a:rPr sz="2000">
                <a:latin typeface="Aptos"/>
              </a:rPr>
              <a:t>This paragraph mixes </a:t>
            </a:r>
            <a:r>
              <a:rPr sz="2200">
                <a:latin typeface="Arial"/>
              </a:rPr>
              <a:t>Arial</a:t>
            </a:r>
            <a:r>
              <a:rPr sz="2000">
                <a:latin typeface="Aptos"/>
              </a:rPr>
              <a:t> with hostile spacing and alignment.</a:t>
            </a:r>
          </a:p>
          <a:p>
            <a:pPr>
              <a:spcAft>
                <a:spcPts val="1200"/>
              </a:spcAft>
              <a:buNone/>
            </a:pPr>
            <a:r>
              <a:rPr sz="2000">
                <a:latin typeface="Aptos"/>
              </a:rPr>
              <a:t>Nested list drift follows immediately after the typography outlier.</a:t>
            </a:r>
          </a:p>
          <a:p>
            <a:pPr lvl="0">
              <a:buChar char="•"/>
            </a:pPr>
            <a:r>
              <a:rPr sz="2000">
                <a:latin typeface="Aptos"/>
              </a:rPr>
              <a:t>Chaos root bullet</a:t>
            </a:r>
          </a:p>
          <a:p>
            <a:pPr lvl="2">
              <a:buChar char="•"/>
            </a:pPr>
            <a:r>
              <a:rPr sz="2000">
                <a:latin typeface="Aptos"/>
              </a:rPr>
              <a:t>Chaos deep indent</a:t>
            </a:r>
          </a:p>
          <a:p>
            <a:pPr>
              <a:spcAft>
                <a:spcPts val="1200"/>
              </a:spcAft>
              <a:lnSpc>
                <a:spcPct val="120000"/>
              </a:lnSpc>
              <a:buNone/>
            </a:pPr>
            <a:r>
              <a:rPr sz="2000">
                <a:latin typeface="Aptos"/>
              </a:rPr>
              <a:t>Closing baseline paragraph returns to the normal body style.</a:t>
            </a:r>
          </a:p>
        </p:txBody>
      </p:sp>
      <p:sp>
        <p:nvSpPr>
          <p:cNvPr id="4" name="Body 4"/>
          <p:cNvSpPr/>
          <p:nvPr/>
        </p:nvSpPr>
        <p:spPr>
          <a:xfrm>
            <a:off x="4800600" y="1676400"/>
            <a:ext cx="3657600" cy="2743200"/>
          </a:xfrm>
          <a:prstGeom prst="rect">
            <a:avLst/>
          </a:prstGeom>
        </p:spPr>
        <p:txBody>
          <a:bodyPr wrap="square"/>
          <a:lstStyle/>
          <a:p>
            <a:pPr algn="r">
              <a:spcAft>
                <a:spcPts val="1200"/>
              </a:spcAft>
              <a:buNone/>
            </a:pPr>
            <a:r>
              <a:rPr sz="2000">
                <a:latin typeface="Georgia"/>
              </a:rPr>
              <a:t>Mixed chaos note</a:t>
            </a:r>
          </a:p>
          <a:p>
            <a:pPr algn="r">
              <a:spcAft>
                <a:spcPts val="1200"/>
              </a:spcAft>
              <a:buNone/>
            </a:pPr>
            <a:r>
              <a:rPr sz="2000">
                <a:latin typeface="Aptos"/>
              </a:rPr>
              <a:t>Intentional right role should remain visible even while the rest of the slide is hostile.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/>
          <p:nvPr>
            <p:ph type="title"/>
          </p:nvPr>
        </p:nvSpPr>
        <p:spPr>
          <a:xfrm>
            <a:off x="457200" y="27432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2800">
                <a:latin typeface="Aptos"/>
              </a:rPr>
              <a:t>Chaos Gate: QA Matrix</a:t>
            </a:r>
          </a:p>
        </p:txBody>
      </p:sp>
      <p:sp>
        <p:nvSpPr>
          <p:cNvPr id="3" name="Body 3"/>
          <p:cNvSpPr/>
          <p:nvPr/>
        </p:nvSpPr>
        <p:spPr>
          <a:xfrm>
            <a:off x="685800" y="1219200"/>
            <a:ext cx="7772400" cy="4572000"/>
          </a:xfrm>
          <a:prstGeom prst="rect">
            <a:avLst/>
          </a:prstGeom>
        </p:spPr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000">
                <a:latin typeface="Aptos"/>
              </a:rPr>
              <a:t>Typography | mixed family and size runs plus one title-family outlier</a:t>
            </a:r>
          </a:p>
          <a:p>
            <a:pPr>
              <a:spcAft>
                <a:spcPts val="1200"/>
              </a:spcAft>
              <a:buNone/>
            </a:pPr>
            <a:r>
              <a:rPr sz="2000">
                <a:latin typeface="Aptos"/>
              </a:rPr>
              <a:t>Alignment | both centered and right local outliers inside left body regions</a:t>
            </a:r>
          </a:p>
          <a:p>
            <a:pPr>
              <a:spcAft>
                <a:spcPts val="1200"/>
              </a:spcAft>
              <a:buNone/>
            </a:pPr>
            <a:r>
              <a:rPr sz="2000">
                <a:latin typeface="Aptos"/>
              </a:rPr>
              <a:t>Bullets | one symbol mismatch and one indent jump plus a numbered reference list</a:t>
            </a:r>
          </a:p>
          <a:p>
            <a:pPr>
              <a:spcAft>
                <a:spcPts val="1200"/>
              </a:spcAft>
              <a:buNone/>
            </a:pPr>
            <a:r>
              <a:rPr sz="2000">
                <a:latin typeface="Aptos"/>
              </a:rPr>
              <a:t>Line spacing | one tight outlier and one loose outlier in the same block</a:t>
            </a:r>
          </a:p>
          <a:p>
            <a:pPr>
              <a:spcAft>
                <a:spcPts val="1200"/>
              </a:spcAft>
              <a:buNone/>
            </a:pPr>
            <a:r>
              <a:rPr sz="2000">
                <a:latin typeface="Aptos"/>
              </a:rPr>
              <a:t>Paragraph spacing | collapsed and exaggerated rhythm on adjacent paragraphs</a:t>
            </a:r>
          </a:p>
          <a:p>
            <a:pPr>
              <a:spcAft>
                <a:spcPts val="1200"/>
              </a:spcAft>
              <a:buNone/>
            </a:pPr>
            <a:r>
              <a:rPr sz="2000">
                <a:latin typeface="Aptos"/>
              </a:rPr>
              <a:t>Mixed chaos | one slide where typography, alignment, bullets, and spacing collide</a:t>
            </a:r>
          </a:p>
        </p:txBody>
      </p:sp>
    </p:spTree>
  </p:cSld>
</p:sld>
</file>