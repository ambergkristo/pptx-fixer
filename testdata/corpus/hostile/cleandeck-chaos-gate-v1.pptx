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1: Brand Drift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Normal body paragraph used as the local baseline.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Second baseline paragraph confirms the local style.</a:t>
            </a:r>
          </a:p>
          <a:p>
            <a:pPr>
              <a:spcAft>
                <a:spcPts val="3000"/>
              </a:spcAft>
            </a:pPr>
            <a:r>
              <a:rPr sz="2200">
                <a:latin typeface="Arial"/>
              </a:rPr>
              <a:t>Arial body outlier with larger text and spacing.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Back to baseline after the outlier paragraph.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2: Bullet Ladder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List below mixes levels, alignment, and line spacing.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alpha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beta</a:t>
            </a:r>
          </a:p>
          <a:p>
            <a:pPr lvl="1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Unexpected nested item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gamma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Divider paragraph between lists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Second list begins normally</a:t>
            </a:r>
          </a:p>
          <a:p>
            <a:pPr lvl="2" algn="ctr">
              <a:lnSpc>
                <a:spcPct val="150000"/>
              </a:lnSpc>
              <a:buChar char="•"/>
            </a:pPr>
            <a:r>
              <a:rPr sz="2000">
                <a:latin typeface="Calibri"/>
              </a:rPr>
              <a:t>Jumped two levels and centered text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3: Spacing Soup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Opening paragraph with modest spacing.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Second paragraph matches the intended rhythm.</a:t>
            </a:r>
          </a:p>
          <a:p>
            <a:pPr>
              <a:spcBef>
                <a:spcPts val="0"/>
              </a:spcBef>
              <a:spcAft>
                <a:spcPts val="4000"/>
              </a:spcAft>
            </a:pPr>
            <a:r>
              <a:rPr sz="1800">
                <a:latin typeface="Calibri"/>
              </a:rPr>
              <a:t>Third paragraph breaks spacing hard to stress the fixer.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Fourth paragraph returns to the expected spacing.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4: Line Spacing Spike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Percent-based line spacing baseline.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Second paragraph keeps the same spacing.</a:t>
            </a:r>
          </a:p>
          <a:p>
            <a:pPr>
              <a:lnSpc>
                <a:spcPct val="145000"/>
              </a:lnSpc>
            </a:pPr>
            <a:r>
              <a:rPr sz="2000">
                <a:latin typeface="Tahoma"/>
              </a:rPr>
              <a:t>Third paragraph spikes line spacing for a clear outlier.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Fourth paragraph returns to the local baseline.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5: Run Salad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Quarterly </a:t>
            </a:r>
            <a:r>
              <a:rPr sz="2200">
                <a:latin typeface="Arial"/>
              </a:rPr>
              <a:t>results </a:t>
            </a:r>
            <a:r>
              <a:rPr sz="1800">
                <a:latin typeface="Calibri"/>
              </a:rPr>
              <a:t>still </a:t>
            </a:r>
            <a:r>
              <a:rPr sz="2400">
                <a:latin typeface="Georgia"/>
              </a:rPr>
              <a:t>need </a:t>
            </a:r>
            <a:r>
              <a:rPr sz="2000">
                <a:latin typeface="Calibri"/>
              </a:rPr>
              <a:t>cleanup </a:t>
            </a:r>
            <a:r>
              <a:rPr sz="2100">
                <a:latin typeface="Verdana"/>
              </a:rPr>
              <a:t>before review.</a:t>
            </a:r>
          </a:p>
          <a:p>
            <a:pPr>
              <a:spcAft>
                <a:spcPts val="2400"/>
              </a:spcAft>
            </a:pPr>
            <a:r>
              <a:rPr sz="2000">
                <a:latin typeface="Calibri"/>
              </a:rPr>
              <a:t>Second paragraph keeps spacing noisy as well.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Third paragraph snaps back to the common spacing.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6: Alignment Trouble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Left aligned baseline paragraph.</a:t>
            </a:r>
          </a:p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Second left aligned baseline paragraph.</a:t>
            </a:r>
          </a:p>
          <a:p>
            <a:pPr algn="ctr">
              <a:lnSpc>
                <a:spcPct val="120000"/>
              </a:lnSpc>
            </a:pPr>
            <a:r>
              <a:rPr sz="2000">
                <a:latin typeface="Calibri"/>
              </a:rPr>
              <a:t>Centered outlier paragraph for alignment drift.</a:t>
            </a:r>
          </a:p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Back to left alignment immediately after the outlier.</a:t>
            </a:r>
          </a:p>
          <a:p>
            <a:pPr algn="l">
              <a:lnSpc>
                <a:spcPct val="120000"/>
              </a:lnSpc>
            </a:pPr>
            <a:r>
              <a:rPr sz="1800">
                <a:latin typeface="Calibri"/>
              </a:rPr>
              <a:t>Final paragraph stays left but changes size slightly.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7: Brand Drift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Normal body paragraph used as the local baseline.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Second baseline paragraph confirms the local style.</a:t>
            </a:r>
          </a:p>
          <a:p>
            <a:pPr>
              <a:spcAft>
                <a:spcPts val="3000"/>
              </a:spcAft>
            </a:pPr>
            <a:r>
              <a:rPr sz="2200">
                <a:latin typeface="Arial"/>
              </a:rPr>
              <a:t>Arial body outlier with larger text and spacing.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Back to baseline after the outlier paragraph.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8: Bullet Ladder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List below mixes levels, alignment, and line spacing.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alpha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beta</a:t>
            </a:r>
          </a:p>
          <a:p>
            <a:pPr lvl="1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Unexpected nested item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Root bullet gamma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Divider paragraph between lists</a:t>
            </a:r>
          </a:p>
          <a:p>
            <a:pPr lvl="0" algn="l">
              <a:lnSpc>
                <a:spcPct val="120000"/>
              </a:lnSpc>
              <a:buChar char="•"/>
            </a:pPr>
            <a:r>
              <a:rPr sz="2000">
                <a:latin typeface="Calibri"/>
              </a:rPr>
              <a:t>Second list begins normally</a:t>
            </a:r>
          </a:p>
          <a:p>
            <a:pPr lvl="2" algn="ctr">
              <a:lnSpc>
                <a:spcPct val="150000"/>
              </a:lnSpc>
              <a:buChar char="•"/>
            </a:pPr>
            <a:r>
              <a:rPr sz="2000">
                <a:latin typeface="Calibri"/>
              </a:rPr>
              <a:t>Jumped two levels and centered text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9: Spacing Soup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Opening paragraph with modest spacing.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Second paragraph matches the intended rhythm.</a:t>
            </a:r>
          </a:p>
          <a:p>
            <a:pPr>
              <a:spcBef>
                <a:spcPts val="0"/>
              </a:spcBef>
              <a:spcAft>
                <a:spcPts val="4000"/>
              </a:spcAft>
            </a:pPr>
            <a:r>
              <a:rPr sz="1800">
                <a:latin typeface="Calibri"/>
              </a:rPr>
              <a:t>Third paragraph breaks spacing hard to stress the fixer.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000">
                <a:latin typeface="Calibri"/>
              </a:rPr>
              <a:t>Fourth paragraph returns to the expected spacing.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10: Line Spacing Spike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Percent-based line spacing baseline.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Second paragraph keeps the same spacing.</a:t>
            </a:r>
          </a:p>
          <a:p>
            <a:pPr>
              <a:lnSpc>
                <a:spcPct val="145000"/>
              </a:lnSpc>
            </a:pPr>
            <a:r>
              <a:rPr sz="2000">
                <a:latin typeface="Tahoma"/>
              </a:rPr>
              <a:t>Third paragraph spikes line spacing for a clear outlier.</a:t>
            </a:r>
          </a:p>
          <a:p>
            <a:pPr>
              <a:lnSpc>
                <a:spcPct val="120000"/>
              </a:lnSpc>
            </a:pPr>
            <a:r>
              <a:rPr sz="2000">
                <a:latin typeface="Calibri"/>
              </a:rPr>
              <a:t>Fourth paragraph returns to the local baseline.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11: Run Salad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Quarterly </a:t>
            </a:r>
            <a:r>
              <a:rPr sz="2200">
                <a:latin typeface="Arial"/>
              </a:rPr>
              <a:t>results </a:t>
            </a:r>
            <a:r>
              <a:rPr sz="1800">
                <a:latin typeface="Calibri"/>
              </a:rPr>
              <a:t>still </a:t>
            </a:r>
            <a:r>
              <a:rPr sz="2400">
                <a:latin typeface="Georgia"/>
              </a:rPr>
              <a:t>need </a:t>
            </a:r>
            <a:r>
              <a:rPr sz="2000">
                <a:latin typeface="Calibri"/>
              </a:rPr>
              <a:t>cleanup </a:t>
            </a:r>
            <a:r>
              <a:rPr sz="2100">
                <a:latin typeface="Verdana"/>
              </a:rPr>
              <a:t>before review.</a:t>
            </a:r>
          </a:p>
          <a:p>
            <a:pPr>
              <a:spcAft>
                <a:spcPts val="2400"/>
              </a:spcAft>
            </a:pPr>
            <a:r>
              <a:rPr sz="2000">
                <a:latin typeface="Calibri"/>
              </a:rPr>
              <a:t>Second paragraph keeps spacing noisy as well.</a:t>
            </a:r>
          </a:p>
          <a:p>
            <a:pPr>
              <a:spcAft>
                <a:spcPts val="1200"/>
              </a:spcAft>
            </a:pPr>
            <a:r>
              <a:rPr sz="2000">
                <a:latin typeface="Calibri"/>
              </a:rPr>
              <a:t>Third paragraph snaps back to the common spacing.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800">
                <a:latin typeface="Calibri"/>
              </a:rPr>
              <a:t>Chaos 12: Alignment Trouble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Left aligned baseline paragraph.</a:t>
            </a:r>
          </a:p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Second left aligned baseline paragraph.</a:t>
            </a:r>
          </a:p>
          <a:p>
            <a:pPr algn="ctr">
              <a:lnSpc>
                <a:spcPct val="120000"/>
              </a:lnSpc>
            </a:pPr>
            <a:r>
              <a:rPr sz="2000">
                <a:latin typeface="Calibri"/>
              </a:rPr>
              <a:t>Centered outlier paragraph for alignment drift.</a:t>
            </a:r>
          </a:p>
          <a:p>
            <a:pPr algn="l">
              <a:lnSpc>
                <a:spcPct val="120000"/>
              </a:lnSpc>
            </a:pPr>
            <a:r>
              <a:rPr sz="2000">
                <a:latin typeface="Calibri"/>
              </a:rPr>
              <a:t>Back to left alignment immediately after the outlier.</a:t>
            </a:r>
          </a:p>
          <a:p>
            <a:pPr algn="l">
              <a:lnSpc>
                <a:spcPct val="120000"/>
              </a:lnSpc>
            </a:pPr>
            <a:r>
              <a:rPr sz="1800">
                <a:latin typeface="Calibri"/>
              </a:rPr>
              <a:t>Final paragraph stays left but changes size slightly.</a:t>
            </a:r>
          </a:p>
        </p:txBody>
      </p:sp>
    </p:spTree>
  </p:cSld>
</p:sld>
</file>