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F"/>
          </a:solidFill>
          <a:ln w="12700">
            <a:solidFill>
              <a:srgbClr val="0811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" y="1325880"/>
            <a:ext cx="10652760" cy="0"/>
          </a:xfrm>
          <a:prstGeom prst="line">
            <a:avLst/>
          </a:prstGeom>
          <a:noFill/>
          <a:ln w="12700">
            <a:solidFill>
              <a:srgbClr val="1A29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22860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84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FORMAT QA / STRESS CASE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0" y="22860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84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INTENTIONALLY INCONSISTENT TYPOGRAPHY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73952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088A6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73952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088A6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30352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Formatting Drift Stress Test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77240" y="1024128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0A2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10-slide sample deck with controlled layout and deliberately inconsistent text styling for app validation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77240" y="1600200"/>
            <a:ext cx="5257800" cy="4480560"/>
          </a:xfrm>
          <a:prstGeom prst="roundRect">
            <a:avLst>
              <a:gd name="adj" fmla="val 1633"/>
            </a:avLst>
          </a:prstGeom>
          <a:solidFill>
            <a:srgbClr val="0C172A">
              <a:alpha val="88000"/>
            </a:srgbClr>
          </a:solidFill>
          <a:ln w="12700">
            <a:solidFill>
              <a:srgbClr val="2841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78408" y="1746504"/>
            <a:ext cx="4855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8FA8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 BLOCK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96696" y="2093976"/>
            <a:ext cx="4818888" cy="3785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  <a:normAutofit/>
          </a:bodyPr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900" dirty="0">
                <a:solidFill>
                  <a:srgbClr val="E9ED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opening slide is intentionally clean so the detector has a stable reference point.</a:t>
            </a:r>
            <a:endParaRPr lang="en-US" sz="1800" dirty="0"/>
          </a:p>
          <a:p>
            <a:pPr algn="l" marL="203200" indent="-203200">
              <a:spcAft>
                <a:spcPts val="500"/>
              </a:spcAft>
              <a:buSzPct val="100000"/>
              <a:buChar char="•"/>
            </a:pPr>
            <a:r>
              <a:rPr lang="en-US" sz="1800" dirty="0">
                <a:solidFill>
                  <a:srgbClr val="E9ED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font: Aptos / Aptos Display</a:t>
            </a:r>
            <a:endParaRPr lang="en-US" sz="1800" dirty="0"/>
          </a:p>
          <a:p>
            <a:pPr algn="l" marL="203200" indent="-203200">
              <a:spcAft>
                <a:spcPts val="500"/>
              </a:spcAft>
              <a:buSzPct val="100000"/>
              <a:buChar char="•"/>
            </a:pPr>
            <a:r>
              <a:rPr lang="en-US" sz="1800" dirty="0">
                <a:solidFill>
                  <a:srgbClr val="E9ED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Body size: 18–19 pt with uniform left alignment</a:t>
            </a:r>
            <a:endParaRPr lang="en-US" sz="1800" dirty="0"/>
          </a:p>
          <a:p>
            <a:pPr algn="l" marL="203200" indent="-203200">
              <a:spcAft>
                <a:spcPts val="500"/>
              </a:spcAft>
              <a:buSzPct val="100000"/>
              <a:buChar char="•"/>
            </a:pPr>
            <a:r>
              <a:rPr lang="en-US" sz="1800" dirty="0">
                <a:solidFill>
                  <a:srgbClr val="E9ED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Line spacing and paragraph spacing are restrained and consistent</a:t>
            </a:r>
            <a:endParaRPr lang="en-US" sz="1800" dirty="0"/>
          </a:p>
          <a:p>
            <a:pPr algn="l" marL="203200" indent="-203200">
              <a:buSzPct val="100000"/>
              <a:buChar char="•"/>
            </a:pPr>
            <a:r>
              <a:rPr lang="en-US" sz="1800" dirty="0">
                <a:solidFill>
                  <a:srgbClr val="E9ED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later slides to test font, size, bullet, spacing, and alignment drift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144768" y="1600200"/>
            <a:ext cx="5257800" cy="4480560"/>
          </a:xfrm>
          <a:prstGeom prst="roundRect">
            <a:avLst>
              <a:gd name="adj" fmla="val 1633"/>
            </a:avLst>
          </a:prstGeom>
          <a:solidFill>
            <a:srgbClr val="0C172A">
              <a:alpha val="88000"/>
            </a:srgbClr>
          </a:solidFill>
          <a:ln w="12700">
            <a:solidFill>
              <a:srgbClr val="2841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45936" y="1746504"/>
            <a:ext cx="4855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8FA8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 NOTES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364224" y="2093976"/>
            <a:ext cx="4818888" cy="3785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  <a:normAutofit/>
          </a:bodyPr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2000" b="1" dirty="0">
                <a:solidFill>
                  <a:srgbClr val="F6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Expected behavior:</a:t>
            </a:r>
            <a:endParaRPr lang="en-US" sz="1800" dirty="0"/>
          </a:p>
          <a:p>
            <a:pPr algn="l"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E9ED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 drift scores on this slide</a:t>
            </a:r>
            <a:endParaRPr lang="en-US" sz="1800" dirty="0"/>
          </a:p>
          <a:p>
            <a:pPr algn="l"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E9ED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Stable line spacing near 1.1x</a:t>
            </a:r>
            <a:endParaRPr lang="en-US" sz="1800" dirty="0"/>
          </a:p>
          <a:p>
            <a:pPr algn="l"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E9ED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experimental bullet characters</a:t>
            </a:r>
            <a:endParaRPr lang="en-US" sz="1800" dirty="0"/>
          </a:p>
          <a:p>
            <a:pPr algn="l" marL="203200" indent="-203200">
              <a:buSzPct val="100000"/>
              <a:buChar char="•"/>
            </a:pPr>
            <a:r>
              <a:rPr lang="en-US" sz="1800" dirty="0">
                <a:solidFill>
                  <a:srgbClr val="E9ED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Margins and card widths remain fixed throughout the deck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04672" y="6428232"/>
            <a:ext cx="9235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D84A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1 acts as the baseline; slides 2–10 intentionally introduce stronger formatting anomalies.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73952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088A6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30352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i="1" dirty="0">
                <a:solidFill>
                  <a:srgbClr val="F5F7F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Font Drift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777240" y="1024128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90A2B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Body content uses several type families that should register as obvious substitutions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77240" y="1600200"/>
            <a:ext cx="5257800" cy="4480560"/>
          </a:xfrm>
          <a:prstGeom prst="roundRect">
            <a:avLst>
              <a:gd name="adj" fmla="val 1633"/>
            </a:avLst>
          </a:prstGeom>
          <a:solidFill>
            <a:srgbClr val="0E182A">
              <a:alpha val="82000"/>
            </a:srgbClr>
          </a:solidFill>
          <a:ln w="12700">
            <a:solidFill>
              <a:srgbClr val="2B42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78408" y="1746504"/>
            <a:ext cx="4855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8FA8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MONOSPACE BODY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96696" y="2093976"/>
            <a:ext cx="4818888" cy="3785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  <a:normAutofit/>
          </a:bodyPr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E7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Courier New makes this panel visibly deviate from the baseline body treatment.</a:t>
            </a:r>
            <a:endParaRPr lang="en-US" sz="1800" dirty="0"/>
          </a:p>
          <a:p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7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Monospaced metrics widen the copy texture</a:t>
            </a:r>
            <a:endParaRPr lang="en-US" sz="1800" dirty="0"/>
          </a:p>
          <a:p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7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Upper/lowercase rhythm becomes mechanical</a:t>
            </a:r>
            <a:endParaRPr lang="en-US" sz="1800" dirty="0"/>
          </a:p>
          <a:p>
            <a:pPr algn="l" marL="228600" indent="-228600">
              <a:buSzPct val="100000"/>
              <a:buChar char="•"/>
            </a:pPr>
            <a:r>
              <a:rPr lang="en-US" sz="1600" dirty="0">
                <a:solidFill>
                  <a:srgbClr val="E7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Useful for false-positive checks versus code slides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144768" y="1600200"/>
            <a:ext cx="5257800" cy="4480560"/>
          </a:xfrm>
          <a:prstGeom prst="roundRect">
            <a:avLst>
              <a:gd name="adj" fmla="val 1633"/>
            </a:avLst>
          </a:prstGeom>
          <a:solidFill>
            <a:srgbClr val="0E182A">
              <a:alpha val="82000"/>
            </a:srgbClr>
          </a:solidFill>
          <a:ln w="12700">
            <a:solidFill>
              <a:srgbClr val="354A6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45936" y="1746504"/>
            <a:ext cx="4855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8FA8C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SERIF PANEL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364224" y="2093976"/>
            <a:ext cx="4818888" cy="3785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  <a:normAutofit/>
          </a:bodyPr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E9EDF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Times New Roman and Cambria-style serif glyphs create a second, competing body voice.</a:t>
            </a:r>
            <a:endParaRPr lang="en-US" sz="1800" dirty="0"/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E9EDF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Serifs tighten counters and stroke contrast</a:t>
            </a:r>
            <a:endParaRPr lang="en-US" sz="1800" dirty="0"/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E9EDF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detector should mark this as a clear font-family drift</a:t>
            </a:r>
            <a:endParaRPr lang="en-US" sz="1800" dirty="0"/>
          </a:p>
          <a:p>
            <a:pPr algn="l" marL="228600" indent="-228600">
              <a:buSzPct val="100000"/>
              <a:buChar char="•"/>
            </a:pPr>
            <a:r>
              <a:rPr lang="en-US" sz="1800" dirty="0">
                <a:solidFill>
                  <a:srgbClr val="E9EDF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Footer is also shifted to Arial Narrow for extra variance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04672" y="6428232"/>
            <a:ext cx="9235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D84A2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Fonts now vary across title, subtitle, left card, right card, and footer.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73952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088A6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30352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5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Size Drift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77240" y="1024128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90A2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Point sizes fluctuate aggressively across paragraphs, bullets, and labels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777240" y="1600200"/>
            <a:ext cx="5257800" cy="4480560"/>
          </a:xfrm>
          <a:prstGeom prst="roundRect">
            <a:avLst>
              <a:gd name="adj" fmla="val 1633"/>
            </a:avLst>
          </a:prstGeom>
          <a:solidFill>
            <a:srgbClr val="0E182A">
              <a:alpha val="82000"/>
            </a:srgbClr>
          </a:solidFill>
          <a:ln w="12700">
            <a:solidFill>
              <a:srgbClr val="23365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78408" y="1746504"/>
            <a:ext cx="4855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FA8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LEFT COLUMN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96696" y="2093976"/>
            <a:ext cx="4818888" cy="3785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  <a:normAutofit/>
          </a:bodyPr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2600" b="1" dirty="0">
                <a:solidFill>
                  <a:srgbClr val="E9ED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Oversized opener</a:t>
            </a:r>
            <a:endParaRPr lang="en-US" sz="1800" dirty="0"/>
          </a:p>
          <a:p>
            <a:pPr algn="l" marL="203200" indent="-2032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E9ED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Bullet one at 15 pt</a:t>
            </a:r>
            <a:endParaRPr lang="en-US" sz="1800" dirty="0"/>
          </a:p>
          <a:p>
            <a:pPr algn="l" marL="203200" indent="-203200">
              <a:spcAft>
                <a:spcPts val="400"/>
              </a:spcAft>
              <a:buSzPct val="100000"/>
              <a:buChar char="•"/>
            </a:pPr>
            <a:r>
              <a:rPr lang="en-US" sz="2400" dirty="0">
                <a:solidFill>
                  <a:srgbClr val="E9ED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Bullet two at 24 pt</a:t>
            </a:r>
            <a:endParaRPr lang="en-US" sz="1800" dirty="0"/>
          </a:p>
          <a:p>
            <a:pPr algn="l"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E9ED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Bullet three at 13 pt</a:t>
            </a:r>
            <a:endParaRPr lang="en-US" sz="1800" dirty="0"/>
          </a:p>
          <a:p>
            <a:pPr algn="l" marL="203200" indent="-203200">
              <a:buSzPct val="100000"/>
              <a:buChar char="•"/>
            </a:pPr>
            <a:r>
              <a:rPr lang="en-US" sz="2100" dirty="0">
                <a:solidFill>
                  <a:srgbClr val="E9ED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Bullet four at 21 pt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144768" y="1600200"/>
            <a:ext cx="5257800" cy="4480560"/>
          </a:xfrm>
          <a:prstGeom prst="roundRect">
            <a:avLst>
              <a:gd name="adj" fmla="val 1633"/>
            </a:avLst>
          </a:prstGeom>
          <a:solidFill>
            <a:srgbClr val="0E182A">
              <a:alpha val="82000"/>
            </a:srgbClr>
          </a:solidFill>
          <a:ln w="12700">
            <a:solidFill>
              <a:srgbClr val="2E415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45936" y="1746504"/>
            <a:ext cx="4855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FA8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RIGHT COLUMN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364224" y="2093976"/>
            <a:ext cx="4818888" cy="3785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  <a:normAutofit/>
          </a:bodyPr>
          <a:lstStyle/>
          <a:p>
            <a:pPr algn="l"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E9ED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Small paragraph</a:t>
            </a:r>
            <a:endParaRPr lang="en-US" sz="18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E9ED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Medium paragraph</a:t>
            </a:r>
            <a:endParaRPr lang="en-US" sz="18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2800" b="1" dirty="0">
                <a:solidFill>
                  <a:srgbClr val="E9ED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Large paragraph</a:t>
            </a:r>
            <a:endParaRPr lang="en-US" sz="180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E9ED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Compressed tail note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04672" y="6428232"/>
            <a:ext cx="9235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D84A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slide should trigger strong font-size variance within and across text boxes.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73952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088A6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30352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Alignment Drift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77240" y="1024128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0A2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layout grid stays fixed while horizontal text alignment changes from block to block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77240" y="1600200"/>
            <a:ext cx="3364992" cy="4480560"/>
          </a:xfrm>
          <a:prstGeom prst="roundRect">
            <a:avLst>
              <a:gd name="adj" fmla="val 2174"/>
            </a:avLst>
          </a:prstGeom>
          <a:solidFill>
            <a:srgbClr val="0E182A">
              <a:alpha val="82000"/>
            </a:srgbClr>
          </a:solidFill>
          <a:ln w="12700">
            <a:solidFill>
              <a:srgbClr val="23365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78408" y="1746504"/>
            <a:ext cx="2962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8FA8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LEFT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96696" y="2093976"/>
            <a:ext cx="2926080" cy="3785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  <a:normAutofit/>
          </a:bodyPr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E9ED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text remains left aligned, similar to the baseline.</a:t>
            </a:r>
            <a:endParaRPr lang="en-US" sz="1800" dirty="0"/>
          </a:p>
          <a:p>
            <a:pPr algn="l"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E9ED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Predictable reading edge</a:t>
            </a:r>
            <a:endParaRPr lang="en-US" sz="1800" dirty="0"/>
          </a:p>
          <a:p>
            <a:pPr algn="l" marL="203200" indent="-203200">
              <a:buSzPct val="100000"/>
              <a:buChar char="•"/>
            </a:pPr>
            <a:r>
              <a:rPr lang="en-US" sz="1800" dirty="0">
                <a:solidFill>
                  <a:srgbClr val="E9ED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Minimal rag variance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416552" y="1600200"/>
            <a:ext cx="3364992" cy="4480560"/>
          </a:xfrm>
          <a:prstGeom prst="roundRect">
            <a:avLst>
              <a:gd name="adj" fmla="val 2174"/>
            </a:avLst>
          </a:prstGeom>
          <a:solidFill>
            <a:srgbClr val="0E182A">
              <a:alpha val="82000"/>
            </a:srgbClr>
          </a:solidFill>
          <a:ln w="12700">
            <a:solidFill>
              <a:srgbClr val="36506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17720" y="1746504"/>
            <a:ext cx="2962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FA8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CENTER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636008" y="2093976"/>
            <a:ext cx="2926080" cy="3785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  <a:normAutofit/>
          </a:bodyPr>
          <a:lstStyle/>
          <a:p>
            <a:pPr algn="ctr"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E9ED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block is centered to provoke paragraph alignment drift.</a:t>
            </a:r>
            <a:endParaRPr lang="en-US" sz="1800" dirty="0"/>
          </a:p>
          <a:p>
            <a:pPr algn="ctr" marL="228600" indent="-2286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E9ED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Centered bullets are visually awkward</a:t>
            </a:r>
            <a:endParaRPr lang="en-US" sz="1800" dirty="0"/>
          </a:p>
          <a:p>
            <a:pPr algn="ctr" marL="228600" indent="-228600">
              <a:buSzPct val="100000"/>
              <a:buChar char="•"/>
            </a:pPr>
            <a:r>
              <a:rPr lang="en-US" sz="1700" dirty="0">
                <a:solidFill>
                  <a:srgbClr val="E9ED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Useful edge case for detector logic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055864" y="1600200"/>
            <a:ext cx="3346704" cy="4480560"/>
          </a:xfrm>
          <a:prstGeom prst="roundRect">
            <a:avLst>
              <a:gd name="adj" fmla="val 2186"/>
            </a:avLst>
          </a:prstGeom>
          <a:solidFill>
            <a:srgbClr val="0E182A">
              <a:alpha val="82000"/>
            </a:srgbClr>
          </a:solidFill>
          <a:ln w="12700">
            <a:solidFill>
              <a:srgbClr val="3B5D8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57032" y="1746504"/>
            <a:ext cx="2944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8FA8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RIGHT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75320" y="2093976"/>
            <a:ext cx="2907792" cy="3785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  <a:normAutofit/>
          </a:bodyPr>
          <a:lstStyle/>
          <a:p>
            <a:pPr algn="r"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E9ED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panel is right aligned, creating a sharp contrast with the first card.</a:t>
            </a:r>
            <a:endParaRPr lang="en-US" sz="1800" dirty="0"/>
          </a:p>
          <a:p>
            <a:pPr algn="r" marL="228600" indent="-2286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E9ED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Reverse text rag</a:t>
            </a:r>
            <a:endParaRPr lang="en-US" sz="1800" dirty="0"/>
          </a:p>
          <a:p>
            <a:pPr algn="r" marL="228600" indent="-228600">
              <a:buSzPct val="100000"/>
              <a:buChar char="•"/>
            </a:pPr>
            <a:r>
              <a:rPr lang="en-US" sz="1700" dirty="0">
                <a:solidFill>
                  <a:srgbClr val="E9ED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Often missed when QA only checks titles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04672" y="6428232"/>
            <a:ext cx="9235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D84A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Alignment changes are intentional; element positions themselves remain consistent.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73952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088A6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30352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Bullet Drift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77240" y="1024128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0A2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List markers change in character, numbering, and indent behavior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77240" y="1600200"/>
            <a:ext cx="5257800" cy="4480560"/>
          </a:xfrm>
          <a:prstGeom prst="roundRect">
            <a:avLst>
              <a:gd name="adj" fmla="val 1633"/>
            </a:avLst>
          </a:prstGeom>
          <a:solidFill>
            <a:srgbClr val="0E182A">
              <a:alpha val="82000"/>
            </a:srgbClr>
          </a:solidFill>
          <a:ln w="12700">
            <a:solidFill>
              <a:srgbClr val="2F4B6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78408" y="1746504"/>
            <a:ext cx="4855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8FA8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SYMBOL VARIANTS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96696" y="2093976"/>
            <a:ext cx="4818888" cy="3785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  <a:normAutofit/>
          </a:bodyPr>
          <a:lstStyle/>
          <a:p>
            <a:pPr algn="l" marL="228600" indent="-2286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E9ED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Standard round bullet</a:t>
            </a:r>
            <a:endParaRPr lang="en-US" sz="1800" dirty="0"/>
          </a:p>
          <a:p>
            <a:pPr algn="l" marL="304800" indent="-304800">
              <a:spcAft>
                <a:spcPts val="700"/>
              </a:spcAft>
              <a:buSzPct val="100000"/>
              <a:buChar char="▪"/>
            </a:pPr>
            <a:r>
              <a:rPr lang="en-US" sz="1800" dirty="0">
                <a:solidFill>
                  <a:srgbClr val="E9ED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Square bullet</a:t>
            </a:r>
            <a:endParaRPr lang="en-US" sz="1800" dirty="0"/>
          </a:p>
          <a:p>
            <a:pPr algn="l" marL="381000" indent="-381000">
              <a:spcAft>
                <a:spcPts val="700"/>
              </a:spcAft>
              <a:buSzPct val="100000"/>
              <a:buChar char="→"/>
            </a:pPr>
            <a:r>
              <a:rPr lang="en-US" sz="1800" dirty="0">
                <a:solidFill>
                  <a:srgbClr val="E9ED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Arrow bullet</a:t>
            </a:r>
            <a:endParaRPr lang="en-US" sz="1800" dirty="0"/>
          </a:p>
          <a:p>
            <a:pPr algn="l" marL="254000" indent="-254000">
              <a:buSzPct val="100000"/>
              <a:buChar char="◆"/>
            </a:pPr>
            <a:r>
              <a:rPr lang="en-US" sz="1800" dirty="0">
                <a:solidFill>
                  <a:srgbClr val="E9ED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Diamond bullet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144768" y="1600200"/>
            <a:ext cx="5257800" cy="4480560"/>
          </a:xfrm>
          <a:prstGeom prst="roundRect">
            <a:avLst>
              <a:gd name="adj" fmla="val 1633"/>
            </a:avLst>
          </a:prstGeom>
          <a:solidFill>
            <a:srgbClr val="0E182A">
              <a:alpha val="82000"/>
            </a:srgbClr>
          </a:solidFill>
          <a:ln w="12700">
            <a:solidFill>
              <a:srgbClr val="39597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45936" y="1746504"/>
            <a:ext cx="4855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8FA8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NUMBERING + INDENT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364224" y="2093976"/>
            <a:ext cx="4818888" cy="3785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  <a:normAutofit/>
          </a:bodyPr>
          <a:lstStyle/>
          <a:p>
            <a:pPr algn="l" marL="228600" indent="-2286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E9ED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First numbered item</a:t>
            </a:r>
            <a:endParaRPr lang="en-US" sz="1800" dirty="0"/>
          </a:p>
          <a:p>
            <a:pPr algn="l" marL="304800" indent="-304800">
              <a:spcAft>
                <a:spcPts val="700"/>
              </a:spcAft>
              <a:buSzPct val="100000"/>
              <a:buFont typeface="+mj-lt"/>
              <a:buAutoNum type="arabicParenR" startAt="2"/>
            </a:pPr>
            <a:r>
              <a:rPr lang="en-US" sz="1800" dirty="0">
                <a:solidFill>
                  <a:srgbClr val="E9ED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Second numbered item</a:t>
            </a:r>
            <a:endParaRPr lang="en-US" sz="1800" dirty="0"/>
          </a:p>
          <a:p>
            <a:pPr algn="l" marL="381000" indent="-381000">
              <a:spcAft>
                <a:spcPts val="700"/>
              </a:spcAft>
              <a:buSzPct val="100000"/>
              <a:buFont typeface="+mj-lt"/>
              <a:buAutoNum type="romanUcPeriod" startAt="3"/>
            </a:pPr>
            <a:r>
              <a:rPr lang="en-US" sz="1800" dirty="0">
                <a:solidFill>
                  <a:srgbClr val="E9ED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Roman numeral</a:t>
            </a:r>
            <a:endParaRPr lang="en-US" sz="1800" dirty="0"/>
          </a:p>
          <a:p>
            <a:pPr algn="l" marL="533400" indent="-533400">
              <a:buSzPct val="100000"/>
              <a:buChar char="‣"/>
            </a:pPr>
            <a:r>
              <a:rPr lang="en-US" sz="1800" dirty="0">
                <a:solidFill>
                  <a:srgbClr val="E9ED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Deep indent edge case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04672" y="6428232"/>
            <a:ext cx="9235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D84A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page mixes symbol bullets, numbered bullets, and inconsistent indents to stress list parsing.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73952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088A6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30352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Line Spacing Drift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77240" y="1024128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0A2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Paragraph density swings between compressed and airy settings within the same slide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77240" y="1600200"/>
            <a:ext cx="5257800" cy="4480560"/>
          </a:xfrm>
          <a:prstGeom prst="roundRect">
            <a:avLst>
              <a:gd name="adj" fmla="val 1633"/>
            </a:avLst>
          </a:prstGeom>
          <a:solidFill>
            <a:srgbClr val="0E182A">
              <a:alpha val="82000"/>
            </a:srgbClr>
          </a:solidFill>
          <a:ln w="12700">
            <a:solidFill>
              <a:srgbClr val="2E476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78408" y="1746504"/>
            <a:ext cx="4855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8FA8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TIGHT LEADING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96696" y="2093976"/>
            <a:ext cx="4818888" cy="3785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  <a:normAutofit/>
          </a:bodyPr>
          <a:lstStyle/>
          <a:p>
            <a:pPr algn="l" indent="0" marL="0">
              <a:lnSpc>
                <a:spcPct val="82000"/>
              </a:lnSpc>
              <a:spcAft>
                <a:spcPts val="500"/>
              </a:spcAft>
              <a:buNone/>
            </a:pPr>
            <a:r>
              <a:rPr lang="en-US" sz="1800" dirty="0">
                <a:solidFill>
                  <a:srgbClr val="E9ED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Condensed spacing can make multi-line text look heavy and cramped when the font size is unchanged.</a:t>
            </a:r>
            <a:endParaRPr lang="en-US" sz="1800" dirty="0"/>
          </a:p>
          <a:p>
            <a:pPr algn="l" indent="0" marL="0">
              <a:lnSpc>
                <a:spcPct val="82000"/>
              </a:lnSpc>
              <a:spcAft>
                <a:spcPts val="500"/>
              </a:spcAft>
              <a:buNone/>
            </a:pPr>
            <a:r>
              <a:rPr lang="en-US" sz="1800" dirty="0">
                <a:solidFill>
                  <a:srgbClr val="E9ED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detector should differentiate this from simple paragraph spacing changes.</a:t>
            </a:r>
            <a:endParaRPr lang="en-US" sz="1800" dirty="0"/>
          </a:p>
          <a:p>
            <a:pPr algn="l" indent="0" marL="0">
              <a:lnSpc>
                <a:spcPct val="82000"/>
              </a:lnSpc>
              <a:buNone/>
            </a:pPr>
            <a:r>
              <a:rPr lang="en-US" sz="1800" dirty="0">
                <a:solidFill>
                  <a:srgbClr val="E9ED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Repeated here to create a consistent compressed texture.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144768" y="1600200"/>
            <a:ext cx="5257800" cy="4480560"/>
          </a:xfrm>
          <a:prstGeom prst="roundRect">
            <a:avLst>
              <a:gd name="adj" fmla="val 1633"/>
            </a:avLst>
          </a:prstGeom>
          <a:solidFill>
            <a:srgbClr val="0E182A">
              <a:alpha val="82000"/>
            </a:srgbClr>
          </a:solidFill>
          <a:ln w="12700">
            <a:solidFill>
              <a:srgbClr val="3A5B7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45936" y="1746504"/>
            <a:ext cx="4855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8FA8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LOOSE LEADING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364224" y="2093976"/>
            <a:ext cx="4818888" cy="3785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  <a:normAutofit/>
          </a:bodyPr>
          <a:lstStyle/>
          <a:p>
            <a:pPr algn="l" indent="0" marL="0">
              <a:lnSpc>
                <a:spcPct val="19000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rgbClr val="E9ED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Expanded line spacing creates obvious vertical air even when paragraph spacing is modest.</a:t>
            </a:r>
            <a:endParaRPr lang="en-US" sz="1800" dirty="0"/>
          </a:p>
          <a:p>
            <a:pPr algn="l" indent="0" marL="0">
              <a:lnSpc>
                <a:spcPct val="19000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rgbClr val="E9ED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is useful for checking whether the app isolates line-height drift correctly.</a:t>
            </a:r>
            <a:endParaRPr lang="en-US" sz="1800" dirty="0"/>
          </a:p>
          <a:p>
            <a:pPr algn="l" indent="0" marL="0">
              <a:lnSpc>
                <a:spcPct val="190000"/>
              </a:lnSpc>
              <a:buNone/>
            </a:pPr>
            <a:r>
              <a:rPr lang="en-US" sz="1800" dirty="0">
                <a:solidFill>
                  <a:srgbClr val="E9ED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same box width should now hold visibly fewer lines.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04672" y="6428232"/>
            <a:ext cx="9235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D84A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Left card uses ~0.82x leading, right card uses ~1.9x leading.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73952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088A6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30352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F5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Paragraph Spacing Drift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777240" y="1024128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90A2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Space before and after paragraphs is exaggerated so paragraph-level drift is easy to detect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77240" y="1600200"/>
            <a:ext cx="5257800" cy="4480560"/>
          </a:xfrm>
          <a:prstGeom prst="roundRect">
            <a:avLst>
              <a:gd name="adj" fmla="val 1633"/>
            </a:avLst>
          </a:prstGeom>
          <a:solidFill>
            <a:srgbClr val="0E182A">
              <a:alpha val="82000"/>
            </a:srgbClr>
          </a:solidFill>
          <a:ln w="12700">
            <a:solidFill>
              <a:srgbClr val="2B41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78408" y="1746504"/>
            <a:ext cx="4855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8FA8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MINIMAL GAPS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96696" y="2093976"/>
            <a:ext cx="4818888" cy="3785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  <a:normAutofit/>
          </a:bodyPr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1800" dirty="0">
                <a:solidFill>
                  <a:srgbClr val="E9ED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Paragraph one with almost no trailing space.</a:t>
            </a:r>
            <a:endParaRPr lang="en-US" sz="18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1800" dirty="0">
                <a:solidFill>
                  <a:srgbClr val="E9ED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Paragraph two follows almost immediately, making the box read as a dense block.</a:t>
            </a:r>
            <a:endParaRPr lang="en-US" sz="18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1800" dirty="0">
                <a:solidFill>
                  <a:srgbClr val="E9ED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Paragraph three continues the compressed rhythm.</a:t>
            </a:r>
            <a:endParaRPr lang="en-US" sz="18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1800" dirty="0">
                <a:solidFill>
                  <a:srgbClr val="E9ED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Paragraph four closes the panel.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144768" y="1600200"/>
            <a:ext cx="5257800" cy="4480560"/>
          </a:xfrm>
          <a:prstGeom prst="roundRect">
            <a:avLst>
              <a:gd name="adj" fmla="val 1633"/>
            </a:avLst>
          </a:prstGeom>
          <a:solidFill>
            <a:srgbClr val="0E182A">
              <a:alpha val="82000"/>
            </a:srgbClr>
          </a:solidFill>
          <a:ln w="12700">
            <a:solidFill>
              <a:srgbClr val="3A5A7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45936" y="1746504"/>
            <a:ext cx="4855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8FA8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EXAGGERATED GAPS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364224" y="2093976"/>
            <a:ext cx="4818888" cy="3785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  <a:normAutofit/>
          </a:bodyPr>
          <a:lstStyle/>
          <a:p>
            <a:pPr algn="l" indent="0" marL="0">
              <a:spcAft>
                <a:spcPts val="2200"/>
              </a:spcAft>
              <a:buNone/>
            </a:pPr>
            <a:r>
              <a:rPr lang="en-US" sz="1800" dirty="0">
                <a:solidFill>
                  <a:srgbClr val="E9ED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Paragraph one with large space after.</a:t>
            </a:r>
            <a:endParaRPr lang="en-US" sz="1800" dirty="0"/>
          </a:p>
          <a:p>
            <a:pPr algn="l" indent="0" marL="0">
              <a:spcBef>
                <a:spcPts val="1000"/>
              </a:spcBef>
              <a:spcAft>
                <a:spcPts val="1600"/>
              </a:spcAft>
              <a:buNone/>
            </a:pPr>
            <a:r>
              <a:rPr lang="en-US" sz="1800" dirty="0">
                <a:solidFill>
                  <a:srgbClr val="E9ED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Paragraph two has both space before and after.</a:t>
            </a:r>
            <a:endParaRPr lang="en-US" sz="1800" dirty="0"/>
          </a:p>
          <a:p>
            <a:pPr algn="l" indent="0" marL="0">
              <a:spcBef>
                <a:spcPts val="800"/>
              </a:spcBef>
              <a:spcAft>
                <a:spcPts val="2000"/>
              </a:spcAft>
              <a:buNone/>
            </a:pPr>
            <a:r>
              <a:rPr lang="en-US" sz="1800" dirty="0">
                <a:solidFill>
                  <a:srgbClr val="E9ED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Paragraph three keeps a highly separated cadence.</a:t>
            </a:r>
            <a:endParaRPr lang="en-US" sz="1800" dirty="0"/>
          </a:p>
          <a:p>
            <a:pPr algn="l" indent="0" marL="0">
              <a:spcBef>
                <a:spcPts val="600"/>
              </a:spcBef>
              <a:spcAft>
                <a:spcPts val="1400"/>
              </a:spcAft>
              <a:buNone/>
            </a:pPr>
            <a:r>
              <a:rPr lang="en-US" sz="1800" dirty="0">
                <a:solidFill>
                  <a:srgbClr val="E9ED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Paragraph four ends with another spacious gap.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04672" y="6428232"/>
            <a:ext cx="9235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D84A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Unlike slide 6, the line height is near normal while paragraph gaps vary sharply.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73952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088A6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30352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F5F7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Mixed Typography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777240" y="1024128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0A2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Several drift categories appear at once: font, size, alignment, bullets, and spacing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77240" y="1600200"/>
            <a:ext cx="3337560" cy="4480560"/>
          </a:xfrm>
          <a:prstGeom prst="roundRect">
            <a:avLst>
              <a:gd name="adj" fmla="val 2192"/>
            </a:avLst>
          </a:prstGeom>
          <a:solidFill>
            <a:srgbClr val="0E182A">
              <a:alpha val="82000"/>
            </a:srgbClr>
          </a:solidFill>
          <a:ln w="12700">
            <a:solidFill>
              <a:srgbClr val="405B7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78408" y="1746504"/>
            <a:ext cx="2935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FA8C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PANEL 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96696" y="2093976"/>
            <a:ext cx="2898648" cy="3785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  <a:normAutofit/>
          </a:bodyPr>
          <a:lstStyle/>
          <a:p>
            <a:pPr algn="ctr" indent="0" marL="0">
              <a:spcAft>
                <a:spcPts val="1000"/>
              </a:spcAft>
              <a:buNone/>
            </a:pPr>
            <a:r>
              <a:rPr lang="en-US" sz="2100" dirty="0">
                <a:solidFill>
                  <a:srgbClr val="E9ED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Georgia, centered, slightly oversized.</a:t>
            </a:r>
            <a:endParaRPr lang="en-US" sz="1800" dirty="0"/>
          </a:p>
          <a:p>
            <a:pPr algn="ctr" marL="279400" indent="-279400">
              <a:spcAft>
                <a:spcPts val="600"/>
              </a:spcAft>
              <a:buSzPct val="100000"/>
              <a:buChar char="▪"/>
            </a:pPr>
            <a:r>
              <a:rPr lang="en-US" sz="1900" dirty="0">
                <a:solidFill>
                  <a:srgbClr val="E9ED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Square bullet</a:t>
            </a:r>
            <a:endParaRPr lang="en-US" sz="1800" dirty="0"/>
          </a:p>
          <a:p>
            <a:pPr algn="ctr" marL="279400" indent="-279400">
              <a:spcAft>
                <a:spcPts val="1200"/>
              </a:spcAft>
              <a:buSzPct val="100000"/>
              <a:buChar char="▪"/>
            </a:pPr>
            <a:r>
              <a:rPr lang="en-US" sz="1900" dirty="0">
                <a:solidFill>
                  <a:srgbClr val="E9ED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Loose paragraph spacing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425696" y="1600200"/>
            <a:ext cx="3337560" cy="4480560"/>
          </a:xfrm>
          <a:prstGeom prst="roundRect">
            <a:avLst>
              <a:gd name="adj" fmla="val 2192"/>
            </a:avLst>
          </a:prstGeom>
          <a:solidFill>
            <a:srgbClr val="0E182A">
              <a:alpha val="82000"/>
            </a:srgbClr>
          </a:solidFill>
          <a:ln w="12700">
            <a:solidFill>
              <a:srgbClr val="2F4A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26864" y="1746504"/>
            <a:ext cx="2935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8FA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PANEL B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645152" y="2093976"/>
            <a:ext cx="2898648" cy="3785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  <a:normAutofit/>
          </a:bodyPr>
          <a:lstStyle/>
          <a:p>
            <a:pPr algn="l" indent="0" marL="0">
              <a:lnSpc>
                <a:spcPct val="85000"/>
              </a:lnSpc>
              <a:spcAft>
                <a:spcPts val="500"/>
              </a:spcAft>
              <a:buNone/>
            </a:pPr>
            <a:r>
              <a:rPr lang="en-US" sz="1600" dirty="0">
                <a:solidFill>
                  <a:srgbClr val="E9ED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Courier New with tight leading.</a:t>
            </a:r>
            <a:endParaRPr lang="en-US" sz="1800" dirty="0"/>
          </a:p>
          <a:p>
            <a:pPr algn="l" indent="0" marL="0">
              <a:lnSpc>
                <a:spcPct val="85000"/>
              </a:lnSpc>
              <a:spcAft>
                <a:spcPts val="500"/>
              </a:spcAft>
              <a:buNone/>
            </a:pPr>
            <a:r>
              <a:rPr lang="en-US" sz="1600" dirty="0">
                <a:solidFill>
                  <a:srgbClr val="E9ED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block is left aligned but compressed.</a:t>
            </a:r>
            <a:endParaRPr lang="en-US" sz="1800" dirty="0"/>
          </a:p>
          <a:p>
            <a:pPr algn="l" indent="0" marL="0">
              <a:lnSpc>
                <a:spcPct val="85000"/>
              </a:lnSpc>
              <a:buNone/>
            </a:pPr>
            <a:r>
              <a:rPr lang="en-US" sz="1600" dirty="0">
                <a:solidFill>
                  <a:srgbClr val="E9ED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Footer style also shifts on this slide.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074152" y="1600200"/>
            <a:ext cx="3328416" cy="4480560"/>
          </a:xfrm>
          <a:prstGeom prst="roundRect">
            <a:avLst>
              <a:gd name="adj" fmla="val 2198"/>
            </a:avLst>
          </a:prstGeom>
          <a:solidFill>
            <a:srgbClr val="0E182A">
              <a:alpha val="82000"/>
            </a:srgbClr>
          </a:solidFill>
          <a:ln w="12700">
            <a:solidFill>
              <a:srgbClr val="4A6A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75320" y="174650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8FA8C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PANEL C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93608" y="2093976"/>
            <a:ext cx="2889504" cy="3785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  <a:normAutofit/>
          </a:bodyPr>
          <a:lstStyle/>
          <a:p>
            <a:pPr algn="r" indent="0" marL="0">
              <a:spcAft>
                <a:spcPts val="1400"/>
              </a:spcAft>
              <a:buNone/>
            </a:pPr>
            <a:r>
              <a:rPr lang="en-US" sz="1900" dirty="0">
                <a:solidFill>
                  <a:srgbClr val="E9EDF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Times New Roman, right aligned, large gaps.</a:t>
            </a:r>
            <a:endParaRPr lang="en-US" sz="1800" dirty="0"/>
          </a:p>
          <a:p>
            <a:pPr algn="r" marL="330200" indent="-330200">
              <a:spcAft>
                <a:spcPts val="1000"/>
              </a:spcAft>
              <a:buSzPct val="100000"/>
              <a:buFont typeface="+mj-lt"/>
              <a:buAutoNum type="romanLcParenBoth" startAt="1"/>
            </a:pPr>
            <a:r>
              <a:rPr lang="en-US" sz="1800" dirty="0">
                <a:solidFill>
                  <a:srgbClr val="E9EDF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Roman numbered item</a:t>
            </a:r>
            <a:endParaRPr lang="en-US" sz="1800" dirty="0"/>
          </a:p>
          <a:p>
            <a:pPr algn="r" marL="431800" indent="-431800">
              <a:buSzPct val="100000"/>
              <a:buChar char="◆"/>
            </a:pPr>
            <a:r>
              <a:rPr lang="en-US" sz="1800" dirty="0">
                <a:solidFill>
                  <a:srgbClr val="E9EDF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Deep indent variant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04672" y="6428232"/>
            <a:ext cx="9235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D84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mixed-case slide is useful when the app scores drift by category rather than only by slide.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73952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088A6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30352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7F1D5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Aggressive Variance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77240" y="1024128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4B2C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 deliberately noisy slide that still stays readable and within slide bounds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777240" y="1600200"/>
            <a:ext cx="5257800" cy="2057400"/>
          </a:xfrm>
          <a:prstGeom prst="roundRect">
            <a:avLst>
              <a:gd name="adj" fmla="val 3556"/>
            </a:avLst>
          </a:prstGeom>
          <a:solidFill>
            <a:srgbClr val="1B2215">
              <a:alpha val="82000"/>
            </a:srgbClr>
          </a:solidFill>
          <a:ln w="12700">
            <a:solidFill>
              <a:srgbClr val="5C6E4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78408" y="1746504"/>
            <a:ext cx="4855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D3E2B6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TOP BLOCK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96696" y="2093976"/>
            <a:ext cx="4818888" cy="1362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  <a:normAutofit/>
          </a:bodyPr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F2F7E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Headline-style paragraph in Verdana.</a:t>
            </a:r>
            <a:endParaRPr lang="en-US" sz="1800" dirty="0"/>
          </a:p>
          <a:p>
            <a:pPr algn="l" marL="228600" indent="-2286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F2F7E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Very small bullet</a:t>
            </a:r>
            <a:endParaRPr lang="en-US" sz="1800" dirty="0"/>
          </a:p>
          <a:p>
            <a:pPr algn="l" marL="228600" indent="-228600">
              <a:buSzPct val="100000"/>
              <a:buChar char="•"/>
            </a:pPr>
            <a:r>
              <a:rPr lang="en-US" sz="2400" dirty="0">
                <a:solidFill>
                  <a:srgbClr val="F2F7E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Very large bullet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77240" y="4023360"/>
            <a:ext cx="3337560" cy="2057400"/>
          </a:xfrm>
          <a:prstGeom prst="roundRect">
            <a:avLst>
              <a:gd name="adj" fmla="val 3556"/>
            </a:avLst>
          </a:prstGeom>
          <a:solidFill>
            <a:srgbClr val="191423">
              <a:alpha val="82000"/>
            </a:srgbClr>
          </a:solidFill>
          <a:ln w="12700">
            <a:solidFill>
              <a:srgbClr val="6A557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4169664"/>
            <a:ext cx="2935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2C3E7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LEFT LOWER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96696" y="4517136"/>
            <a:ext cx="2898648" cy="1362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  <a:normAutofit/>
          </a:bodyPr>
          <a:lstStyle/>
          <a:p>
            <a:pPr algn="ctr"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E9EDF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Centered serif paragraph</a:t>
            </a:r>
            <a:endParaRPr lang="en-US" sz="1800" dirty="0"/>
          </a:p>
          <a:p>
            <a:pPr algn="ctr" indent="0" marL="0">
              <a:spcAft>
                <a:spcPts val="1500"/>
              </a:spcAft>
              <a:buNone/>
            </a:pPr>
            <a:r>
              <a:rPr lang="en-US" sz="1800" dirty="0">
                <a:solidFill>
                  <a:srgbClr val="E9EDF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Expanded spacing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425696" y="4023360"/>
            <a:ext cx="3337560" cy="2057400"/>
          </a:xfrm>
          <a:prstGeom prst="roundRect">
            <a:avLst>
              <a:gd name="adj" fmla="val 3556"/>
            </a:avLst>
          </a:prstGeom>
          <a:solidFill>
            <a:srgbClr val="111A24">
              <a:alpha val="82000"/>
            </a:srgbClr>
          </a:solidFill>
          <a:ln w="12700">
            <a:solidFill>
              <a:srgbClr val="58708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26864" y="4169664"/>
            <a:ext cx="2935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B6D5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CENTER LOWER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645152" y="4517136"/>
            <a:ext cx="2898648" cy="1362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  <a:normAutofit/>
          </a:bodyPr>
          <a:lstStyle/>
          <a:p>
            <a:pPr algn="r" indent="0" marL="0">
              <a:lnSpc>
                <a:spcPct val="88000"/>
              </a:lnSpc>
              <a:spcAft>
                <a:spcPts val="600"/>
              </a:spcAft>
              <a:buNone/>
            </a:pPr>
            <a:r>
              <a:rPr lang="en-US" sz="1600" dirty="0">
                <a:solidFill>
                  <a:srgbClr val="E9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Monospace right aligned.</a:t>
            </a:r>
            <a:endParaRPr lang="en-US" sz="1800" dirty="0"/>
          </a:p>
          <a:p>
            <a:pPr algn="r" indent="0" marL="0">
              <a:lnSpc>
                <a:spcPct val="88000"/>
              </a:lnSpc>
              <a:buNone/>
            </a:pPr>
            <a:r>
              <a:rPr lang="en-US" sz="1600" dirty="0">
                <a:solidFill>
                  <a:srgbClr val="E9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Tight line spacing remains active.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8074152" y="4023360"/>
            <a:ext cx="3328416" cy="2057400"/>
          </a:xfrm>
          <a:prstGeom prst="roundRect">
            <a:avLst>
              <a:gd name="adj" fmla="val 3556"/>
            </a:avLst>
          </a:prstGeom>
          <a:solidFill>
            <a:srgbClr val="17200F">
              <a:alpha val="82000"/>
            </a:srgbClr>
          </a:solidFill>
          <a:ln w="12700">
            <a:solidFill>
              <a:srgbClr val="5A6B3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75320" y="416966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5E3B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RIGHT LOWER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93608" y="4517136"/>
            <a:ext cx="2889504" cy="1362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  <a:normAutofit/>
          </a:bodyPr>
          <a:lstStyle/>
          <a:p>
            <a:pPr algn="l" marL="254000" indent="-254000">
              <a:spcAft>
                <a:spcPts val="400"/>
              </a:spcAft>
              <a:buSzPct val="100000"/>
              <a:buChar char="→"/>
            </a:pPr>
            <a:r>
              <a:rPr lang="en-US" sz="1800" dirty="0">
                <a:solidFill>
                  <a:srgbClr val="F4F7E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Arrow list</a:t>
            </a:r>
            <a:endParaRPr lang="en-US" sz="1800" dirty="0"/>
          </a:p>
          <a:p>
            <a:pPr algn="l" marL="406400" indent="-406400">
              <a:spcAft>
                <a:spcPts val="800"/>
              </a:spcAft>
              <a:buSzPct val="100000"/>
              <a:buChar char="◆"/>
            </a:pPr>
            <a:r>
              <a:rPr lang="en-US" sz="1500" dirty="0">
                <a:solidFill>
                  <a:srgbClr val="F4F7E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Indented diamond list</a:t>
            </a:r>
            <a:endParaRPr lang="en-US" sz="1800" dirty="0"/>
          </a:p>
          <a:p>
            <a:pPr algn="l" marL="279400" indent="-279400">
              <a:buSzPct val="100000"/>
              <a:buFont typeface="+mj-lt"/>
              <a:buAutoNum type="alphaLcParenR" startAt="3"/>
            </a:pPr>
            <a:r>
              <a:rPr lang="en-US" sz="2000" dirty="0">
                <a:solidFill>
                  <a:srgbClr val="F4F7E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Numbered close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04672" y="6428232"/>
            <a:ext cx="9235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AAB8C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This page combines font-family, font-size, bullet-style, spacing, and alignment anomalies in one composition.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73952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088A6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30352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5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Audit Matrix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77240" y="1024128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0A2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slide repeats each drift class in a compact checklist format for regression testing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14400" y="18745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FA8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Drift class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834640" y="18745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FA8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 style applied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035040" y="18745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FA8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Expected signal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829800" y="18745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FA8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Status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96112" y="2176272"/>
            <a:ext cx="10369296" cy="475488"/>
          </a:xfrm>
          <a:prstGeom prst="rect">
            <a:avLst/>
          </a:prstGeom>
          <a:solidFill>
            <a:srgbClr val="101C30"/>
          </a:solidFill>
          <a:ln w="12700">
            <a:solidFill>
              <a:srgbClr val="101C3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2688" y="2240280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CF1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Font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852928" y="224028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C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Georgia / Courier / Times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016752" y="2240280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Family mismatch across slides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857232" y="222199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4D35E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FAIL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896112" y="2816352"/>
            <a:ext cx="10369296" cy="475488"/>
          </a:xfrm>
          <a:prstGeom prst="rect">
            <a:avLst/>
          </a:prstGeom>
          <a:solidFill>
            <a:srgbClr val="0C1525"/>
          </a:solidFill>
          <a:ln w="12700">
            <a:solidFill>
              <a:srgbClr val="0C152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32688" y="2880360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CF1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Size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852928" y="288036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ECF1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 pt to 28 pt swings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016752" y="2880360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Paragraph-level size variance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857232" y="286207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7F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FAIL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96112" y="3456432"/>
            <a:ext cx="10369296" cy="475488"/>
          </a:xfrm>
          <a:prstGeom prst="rect">
            <a:avLst/>
          </a:prstGeom>
          <a:solidFill>
            <a:srgbClr val="101C30"/>
          </a:solidFill>
          <a:ln w="12700">
            <a:solidFill>
              <a:srgbClr val="101C3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2688" y="3520440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ECF1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Alignment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2852928" y="352044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CF1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left / center / right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016752" y="3520440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Inconsistent paragraph alignment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857232" y="350215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6CF6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FAIL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96112" y="4096512"/>
            <a:ext cx="10369296" cy="475488"/>
          </a:xfrm>
          <a:prstGeom prst="rect">
            <a:avLst/>
          </a:prstGeom>
          <a:solidFill>
            <a:srgbClr val="0C1525"/>
          </a:solidFill>
          <a:ln w="12700">
            <a:solidFill>
              <a:srgbClr val="0C152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32688" y="4160520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CF1F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Bullets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2852928" y="416052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CF1F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•  ■  →  i) 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016752" y="4160520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Marker + indent drift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857232" y="414223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6CF6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FAIL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96112" y="4736592"/>
            <a:ext cx="10369296" cy="475488"/>
          </a:xfrm>
          <a:prstGeom prst="rect">
            <a:avLst/>
          </a:prstGeom>
          <a:solidFill>
            <a:srgbClr val="101C30"/>
          </a:solidFill>
          <a:ln w="12700">
            <a:solidFill>
              <a:srgbClr val="101C3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32688" y="4800600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CF1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Line spacing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2852928" y="480060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CF1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0.82x vs 1.9x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6016752" y="4800600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Leading changes inside same layout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9857232" y="478231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6CF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FAIL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896112" y="5376672"/>
            <a:ext cx="10369296" cy="475488"/>
          </a:xfrm>
          <a:prstGeom prst="rect">
            <a:avLst/>
          </a:prstGeom>
          <a:solidFill>
            <a:srgbClr val="0C1525"/>
          </a:solidFill>
          <a:ln w="12700">
            <a:solidFill>
              <a:srgbClr val="0C152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32688" y="5440680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CF1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Paragraph spacing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2852928" y="544068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CF1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pt vs 22 pt after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6016752" y="5440680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Gap variance without moving boxes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9857232" y="542239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6CF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FAIL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804672" y="6428232"/>
            <a:ext cx="9235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D84A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Net result: a compact PPTX with stable layout but intentionally messy formatting across all major style dimensions.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73952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088A6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Formatting Drift Stress Test</dc:title>
  <dc:subject>Formatting stress test deck</dc:subject>
  <dc:creator>OpenAI</dc:creator>
  <cp:lastModifiedBy>OpenAI</cp:lastModifiedBy>
  <cp:revision>1</cp:revision>
  <dcterms:created xsi:type="dcterms:W3CDTF">2026-03-18T20:32:58Z</dcterms:created>
  <dcterms:modified xsi:type="dcterms:W3CDTF">2026-03-18T20:32:58Z</dcterms:modified>
</cp:coreProperties>
</file>